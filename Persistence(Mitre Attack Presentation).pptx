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58" r:id="rId5"/>
    <p:sldId id="259" r:id="rId6"/>
    <p:sldId id="260" r:id="rId7"/>
    <p:sldId id="261" r:id="rId8"/>
    <p:sldId id="276" r:id="rId9"/>
    <p:sldId id="277" r:id="rId10"/>
    <p:sldId id="278" r:id="rId11"/>
    <p:sldId id="280" r:id="rId12"/>
    <p:sldId id="282" r:id="rId13"/>
    <p:sldId id="281" r:id="rId14"/>
    <p:sldId id="262" r:id="rId15"/>
    <p:sldId id="263" r:id="rId16"/>
    <p:sldId id="264" r:id="rId17"/>
    <p:sldId id="265" r:id="rId18"/>
    <p:sldId id="266" r:id="rId19"/>
    <p:sldId id="283" r:id="rId20"/>
    <p:sldId id="267" r:id="rId21"/>
    <p:sldId id="268" r:id="rId22"/>
    <p:sldId id="269" r:id="rId23"/>
    <p:sldId id="270" r:id="rId24"/>
    <p:sldId id="271" r:id="rId25"/>
    <p:sldId id="284" r:id="rId26"/>
    <p:sldId id="285" r:id="rId27"/>
    <p:sldId id="286" r:id="rId28"/>
    <p:sldId id="287" r:id="rId29"/>
    <p:sldId id="288" r:id="rId30"/>
    <p:sldId id="272" r:id="rId31"/>
    <p:sldId id="273" r:id="rId32"/>
    <p:sldId id="279" r:id="rId33"/>
    <p:sldId id="289" r:id="rId34"/>
    <p:sldId id="275" r:id="rId3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37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A41CAE-2C79-41BF-A808-5D65AB33DF0B}"/>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CDC2B1AD-3007-4D06-85E8-A111443814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EE514A72-8064-4404-A04A-3C73DFCB24F7}"/>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5" name="Alt Bilgi Yer Tutucusu 4">
            <a:extLst>
              <a:ext uri="{FF2B5EF4-FFF2-40B4-BE49-F238E27FC236}">
                <a16:creationId xmlns:a16="http://schemas.microsoft.com/office/drawing/2014/main" id="{58D234F8-AEC4-439D-A923-0B1D05B21ED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362EB42-1E48-44DD-9755-C8F00D84D263}"/>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502668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229BE05-1723-4788-9CDE-62781A5CE21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BC0A7345-60E3-49A4-A508-E9F2AF3672A0}"/>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EB7C8AE-C989-4BAA-97AE-B2C6552BF546}"/>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5" name="Alt Bilgi Yer Tutucusu 4">
            <a:extLst>
              <a:ext uri="{FF2B5EF4-FFF2-40B4-BE49-F238E27FC236}">
                <a16:creationId xmlns:a16="http://schemas.microsoft.com/office/drawing/2014/main" id="{C5BF1D53-217D-4A52-A03B-20BFA54ABFE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D7E172D-4FE9-439F-A82B-D6D89B04CC67}"/>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1969466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2B0599-DA2F-42AE-8BF2-D5F36C7AF873}"/>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6BFB833D-88D0-4F29-AF1B-98F5E1429C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59D7372F-39AE-476A-B531-41778CE9D180}"/>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5" name="Alt Bilgi Yer Tutucusu 4">
            <a:extLst>
              <a:ext uri="{FF2B5EF4-FFF2-40B4-BE49-F238E27FC236}">
                <a16:creationId xmlns:a16="http://schemas.microsoft.com/office/drawing/2014/main" id="{98868D79-DFFC-4A6B-803A-F2E1B128725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20DD260-6DC4-44B0-8212-38A4BF61BC7D}"/>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409103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2E40A4-CB60-4A83-A6BA-E1D70BD8332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65F3C6D-0BA6-4880-A0DE-F3FD5D85ACFF}"/>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4F3B91E7-A675-4316-8F33-2AC73A3A6B88}"/>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EFAF46D9-1F1E-41C6-BEBC-DB12C84F17F1}"/>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6" name="Alt Bilgi Yer Tutucusu 5">
            <a:extLst>
              <a:ext uri="{FF2B5EF4-FFF2-40B4-BE49-F238E27FC236}">
                <a16:creationId xmlns:a16="http://schemas.microsoft.com/office/drawing/2014/main" id="{7BD6C15A-6687-4EC0-B037-C5C87EE796A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EEA193B-7704-4A37-8CDD-79038476BE3D}"/>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4020745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C6DA79E-2B8D-4132-BA9C-3028ADDEA620}"/>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A4BB57B6-E370-4BE0-99A3-3235FC21EE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44ED2469-2751-470F-894C-646681481893}"/>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49E46257-91BC-407E-B062-1E3549873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52A1DA42-D1A3-43EC-B659-7D107005739B}"/>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E51942A-4116-441B-9966-9F91B3F6D94B}"/>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8" name="Alt Bilgi Yer Tutucusu 7">
            <a:extLst>
              <a:ext uri="{FF2B5EF4-FFF2-40B4-BE49-F238E27FC236}">
                <a16:creationId xmlns:a16="http://schemas.microsoft.com/office/drawing/2014/main" id="{66BEA757-1690-43CF-AE1E-492658802D07}"/>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EB5C3453-51D4-4129-B262-42B9A27BE33B}"/>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77985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C973DC-56B8-4170-B1F1-2EF4184AFC2F}"/>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F7264784-5E09-4AF0-9DA7-CA5BD76D8AD3}"/>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4" name="Alt Bilgi Yer Tutucusu 3">
            <a:extLst>
              <a:ext uri="{FF2B5EF4-FFF2-40B4-BE49-F238E27FC236}">
                <a16:creationId xmlns:a16="http://schemas.microsoft.com/office/drawing/2014/main" id="{D0C6C1FF-047D-4E95-8443-0988FE1C0688}"/>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83D81C8C-EF01-4800-B44A-AE5557E3C61A}"/>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1536280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316B2E8A-C5DC-4E16-A683-8D0E1CA21AFC}"/>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3" name="Alt Bilgi Yer Tutucusu 2">
            <a:extLst>
              <a:ext uri="{FF2B5EF4-FFF2-40B4-BE49-F238E27FC236}">
                <a16:creationId xmlns:a16="http://schemas.microsoft.com/office/drawing/2014/main" id="{00FFBA0C-ED6C-457D-AD18-A51472C05EEB}"/>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3E090E1-0EDC-47C0-A44E-7FC62AE6659B}"/>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2945969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940A57C-3672-49DF-AA25-B83B399968B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A039947F-6E38-4494-9C49-1633EB3400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8F04CD6-D89F-4BC8-A677-5D6CDDDB4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21A576B2-60FE-47A3-A04E-52958FAD5FFC}"/>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6" name="Alt Bilgi Yer Tutucusu 5">
            <a:extLst>
              <a:ext uri="{FF2B5EF4-FFF2-40B4-BE49-F238E27FC236}">
                <a16:creationId xmlns:a16="http://schemas.microsoft.com/office/drawing/2014/main" id="{48BE7DF5-7B97-4A36-B1B3-9F8CD03708B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2F00DDE4-0177-4DF0-B220-666A500E87C1}"/>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2367094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75CF98C-E527-496E-B8ED-CDB41C819BD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9F276588-2807-4A33-B5A4-570C1986E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F672441D-99EC-44D8-A5E1-58D155429E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4772282-8533-43D2-9F69-C619C6372539}"/>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6" name="Alt Bilgi Yer Tutucusu 5">
            <a:extLst>
              <a:ext uri="{FF2B5EF4-FFF2-40B4-BE49-F238E27FC236}">
                <a16:creationId xmlns:a16="http://schemas.microsoft.com/office/drawing/2014/main" id="{CC64DF59-899D-4B4A-8A27-D919747075C7}"/>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CABA025-FE90-45D4-B5AF-1E97EEA66369}"/>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564320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C264C5-1074-4806-97FC-9DA74E110F6D}"/>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F89C5288-9BEA-4635-9F77-9D7491B197DF}"/>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3C58D65-2B1A-491E-B150-A96E83983840}"/>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5" name="Alt Bilgi Yer Tutucusu 4">
            <a:extLst>
              <a:ext uri="{FF2B5EF4-FFF2-40B4-BE49-F238E27FC236}">
                <a16:creationId xmlns:a16="http://schemas.microsoft.com/office/drawing/2014/main" id="{919126D6-3830-4BFD-9738-4903E81871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780A647-3900-4A65-B8E1-3ADFE200278E}"/>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335445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C899C677-3204-4EFA-82B5-8BF1936C4B87}"/>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A90AE657-1C30-4C26-92DA-2BE959D5CE3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356158F-9955-4772-B943-BE78A38B3E67}"/>
              </a:ext>
            </a:extLst>
          </p:cNvPr>
          <p:cNvSpPr>
            <a:spLocks noGrp="1"/>
          </p:cNvSpPr>
          <p:nvPr>
            <p:ph type="dt" sz="half" idx="10"/>
          </p:nvPr>
        </p:nvSpPr>
        <p:spPr/>
        <p:txBody>
          <a:bodyPr/>
          <a:lstStyle/>
          <a:p>
            <a:fld id="{62269DB8-3775-449E-A495-F4E56EFDB529}" type="datetimeFigureOut">
              <a:rPr lang="tr-TR" smtClean="0"/>
              <a:t>16.05.2020</a:t>
            </a:fld>
            <a:endParaRPr lang="tr-TR"/>
          </a:p>
        </p:txBody>
      </p:sp>
      <p:sp>
        <p:nvSpPr>
          <p:cNvPr id="5" name="Alt Bilgi Yer Tutucusu 4">
            <a:extLst>
              <a:ext uri="{FF2B5EF4-FFF2-40B4-BE49-F238E27FC236}">
                <a16:creationId xmlns:a16="http://schemas.microsoft.com/office/drawing/2014/main" id="{85D0ABB0-D1E6-4A7F-808E-DACC5B15C1C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24ECC8F-9409-4592-B55A-048B337CBF01}"/>
              </a:ext>
            </a:extLst>
          </p:cNvPr>
          <p:cNvSpPr>
            <a:spLocks noGrp="1"/>
          </p:cNvSpPr>
          <p:nvPr>
            <p:ph type="sldNum" sz="quarter" idx="12"/>
          </p:nvPr>
        </p:nvSpPr>
        <p:spPr/>
        <p:txBody>
          <a:bodyPr/>
          <a:lstStyle/>
          <a:p>
            <a:fld id="{BA927451-F342-48AA-A740-9B526915CCE2}" type="slidenum">
              <a:rPr lang="tr-TR" smtClean="0"/>
              <a:t>‹#›</a:t>
            </a:fld>
            <a:endParaRPr lang="tr-TR"/>
          </a:p>
        </p:txBody>
      </p:sp>
    </p:spTree>
    <p:extLst>
      <p:ext uri="{BB962C8B-B14F-4D97-AF65-F5344CB8AC3E}">
        <p14:creationId xmlns:p14="http://schemas.microsoft.com/office/powerpoint/2010/main" val="2228632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6C71B5B8-6683-41F3-AF6C-44D2AAB3F2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823794F-2EA3-45AF-9B3C-AA6173EE7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831D24B-6318-406A-8C20-573E48C12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69DB8-3775-449E-A495-F4E56EFDB529}" type="datetimeFigureOut">
              <a:rPr lang="tr-TR" smtClean="0"/>
              <a:t>16.05.2020</a:t>
            </a:fld>
            <a:endParaRPr lang="tr-TR"/>
          </a:p>
        </p:txBody>
      </p:sp>
      <p:sp>
        <p:nvSpPr>
          <p:cNvPr id="5" name="Alt Bilgi Yer Tutucusu 4">
            <a:extLst>
              <a:ext uri="{FF2B5EF4-FFF2-40B4-BE49-F238E27FC236}">
                <a16:creationId xmlns:a16="http://schemas.microsoft.com/office/drawing/2014/main" id="{6F24594C-B05D-405B-8A49-62477504C1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4FB45B35-248A-45E3-9B55-839D3713D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927451-F342-48AA-A740-9B526915CCE2}" type="slidenum">
              <a:rPr lang="tr-TR" smtClean="0"/>
              <a:t>‹#›</a:t>
            </a:fld>
            <a:endParaRPr lang="tr-TR"/>
          </a:p>
        </p:txBody>
      </p:sp>
    </p:spTree>
    <p:extLst>
      <p:ext uri="{BB962C8B-B14F-4D97-AF65-F5344CB8AC3E}">
        <p14:creationId xmlns:p14="http://schemas.microsoft.com/office/powerpoint/2010/main" val="2568811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ttack.mitre.org/" TargetMode="External"/><Relationship Id="rId2" Type="http://schemas.openxmlformats.org/officeDocument/2006/relationships/hyperlink" Target="https://www.recordedfuture.com/chinese-mss-behind-apt3/" TargetMode="External"/><Relationship Id="rId1" Type="http://schemas.openxmlformats.org/officeDocument/2006/relationships/slideLayout" Target="../slideLayouts/slideLayout2.xml"/><Relationship Id="rId4" Type="http://schemas.openxmlformats.org/officeDocument/2006/relationships/hyperlink" Target="https://malpedia.caad.fkie.fraunhofer.de/"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3E5DBAC-B4D4-477C-AA22-79ECDC237E9D}"/>
              </a:ext>
            </a:extLst>
          </p:cNvPr>
          <p:cNvSpPr>
            <a:spLocks noGrp="1"/>
          </p:cNvSpPr>
          <p:nvPr>
            <p:ph type="ctrTitle"/>
          </p:nvPr>
        </p:nvSpPr>
        <p:spPr>
          <a:xfrm>
            <a:off x="970908" y="1220919"/>
            <a:ext cx="5425781" cy="2387600"/>
          </a:xfrm>
        </p:spPr>
        <p:txBody>
          <a:bodyPr>
            <a:normAutofit/>
          </a:bodyPr>
          <a:lstStyle/>
          <a:p>
            <a:pPr algn="l"/>
            <a:r>
              <a:rPr lang="tr-TR" sz="5100" err="1"/>
              <a:t>Adversary</a:t>
            </a:r>
            <a:r>
              <a:rPr lang="tr-TR" sz="5100"/>
              <a:t> </a:t>
            </a:r>
            <a:r>
              <a:rPr lang="tr-TR" sz="5100" err="1"/>
              <a:t>Tactics</a:t>
            </a:r>
            <a:r>
              <a:rPr lang="tr-TR" sz="5100"/>
              <a:t> </a:t>
            </a:r>
            <a:r>
              <a:rPr lang="tr-TR" sz="5100" err="1"/>
              <a:t>and</a:t>
            </a:r>
            <a:r>
              <a:rPr lang="tr-TR" sz="5100"/>
              <a:t> </a:t>
            </a:r>
            <a:r>
              <a:rPr lang="tr-TR" sz="5100" err="1"/>
              <a:t>Techniques</a:t>
            </a:r>
            <a:r>
              <a:rPr lang="tr-TR" sz="5100"/>
              <a:t> (</a:t>
            </a:r>
            <a:r>
              <a:rPr lang="tr-TR" sz="5100" err="1"/>
              <a:t>Persistence</a:t>
            </a:r>
            <a:r>
              <a:rPr lang="tr-TR" sz="5100"/>
              <a:t>)</a:t>
            </a:r>
          </a:p>
        </p:txBody>
      </p:sp>
      <p:sp>
        <p:nvSpPr>
          <p:cNvPr id="3" name="Alt Başlık 2">
            <a:extLst>
              <a:ext uri="{FF2B5EF4-FFF2-40B4-BE49-F238E27FC236}">
                <a16:creationId xmlns:a16="http://schemas.microsoft.com/office/drawing/2014/main" id="{CD4D1237-6C8C-48C2-B400-1DB544084EEE}"/>
              </a:ext>
            </a:extLst>
          </p:cNvPr>
          <p:cNvSpPr>
            <a:spLocks noGrp="1"/>
          </p:cNvSpPr>
          <p:nvPr>
            <p:ph type="subTitle" idx="1"/>
          </p:nvPr>
        </p:nvSpPr>
        <p:spPr>
          <a:xfrm>
            <a:off x="970908" y="3700594"/>
            <a:ext cx="5425781" cy="1655762"/>
          </a:xfrm>
        </p:spPr>
        <p:txBody>
          <a:bodyPr>
            <a:normAutofit/>
          </a:bodyPr>
          <a:lstStyle/>
          <a:p>
            <a:pPr algn="l"/>
            <a:r>
              <a:rPr lang="tr-TR"/>
              <a:t>Barış Karaer S015497</a:t>
            </a:r>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4832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C2F89F1-ADA2-4876-BAEA-C43A9E8CAD0E}"/>
              </a:ext>
            </a:extLst>
          </p:cNvPr>
          <p:cNvSpPr>
            <a:spLocks noGrp="1"/>
          </p:cNvSpPr>
          <p:nvPr>
            <p:ph type="title"/>
          </p:nvPr>
        </p:nvSpPr>
        <p:spPr>
          <a:xfrm>
            <a:off x="686834" y="591344"/>
            <a:ext cx="3200400" cy="5585619"/>
          </a:xfrm>
        </p:spPr>
        <p:txBody>
          <a:bodyPr>
            <a:normAutofit/>
          </a:bodyPr>
          <a:lstStyle/>
          <a:p>
            <a:r>
              <a:rPr lang="tr-TR">
                <a:solidFill>
                  <a:srgbClr val="FFFFFF"/>
                </a:solidFill>
              </a:rPr>
              <a:t>Persistence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61246CB6-2838-4973-AA35-1194FAE4B9D3}"/>
              </a:ext>
            </a:extLst>
          </p:cNvPr>
          <p:cNvSpPr>
            <a:spLocks noGrp="1"/>
          </p:cNvSpPr>
          <p:nvPr>
            <p:ph idx="1"/>
          </p:nvPr>
        </p:nvSpPr>
        <p:spPr>
          <a:xfrm>
            <a:off x="4447308" y="591344"/>
            <a:ext cx="6906491" cy="5585619"/>
          </a:xfrm>
        </p:spPr>
        <p:txBody>
          <a:bodyPr anchor="ctr">
            <a:normAutofit/>
          </a:bodyPr>
          <a:lstStyle/>
          <a:p>
            <a:r>
              <a:rPr lang="en-US" sz="2600" dirty="0"/>
              <a:t>Persistence consists of techniques that </a:t>
            </a:r>
            <a:r>
              <a:rPr lang="en-US" sz="2600" dirty="0">
                <a:highlight>
                  <a:srgbClr val="FFFF00"/>
                </a:highlight>
              </a:rPr>
              <a:t>adversaries use to keep access to systems across restarts, changed credentials, and other interruptions</a:t>
            </a:r>
            <a:r>
              <a:rPr lang="en-US" sz="2600" dirty="0"/>
              <a:t> that could cut off their access. Techniques used for persistence include any access, action, or configuration changes that let them maintain their foothold on systems, such as </a:t>
            </a:r>
            <a:r>
              <a:rPr lang="en-US" sz="2600" dirty="0">
                <a:highlight>
                  <a:srgbClr val="FFFF00"/>
                </a:highlight>
              </a:rPr>
              <a:t>replacing or hijacking legitimate code or adding startup code</a:t>
            </a:r>
            <a:r>
              <a:rPr lang="en-US" sz="2600" dirty="0"/>
              <a:t>.</a:t>
            </a:r>
            <a:endParaRPr lang="tr-TR" sz="2600" dirty="0"/>
          </a:p>
          <a:p>
            <a:endParaRPr lang="tr-TR" sz="2600" dirty="0"/>
          </a:p>
          <a:p>
            <a:r>
              <a:rPr lang="en-US" sz="2600" dirty="0"/>
              <a:t>ID: TA0003</a:t>
            </a:r>
          </a:p>
          <a:p>
            <a:r>
              <a:rPr lang="en-US" sz="2600" dirty="0"/>
              <a:t>Created: 17 October 2018</a:t>
            </a:r>
          </a:p>
          <a:p>
            <a:r>
              <a:rPr lang="en-US" sz="2600" dirty="0"/>
              <a:t>Last Modified: 19 July 2019</a:t>
            </a:r>
          </a:p>
          <a:p>
            <a:endParaRPr lang="tr-TR" sz="2600" dirty="0"/>
          </a:p>
        </p:txBody>
      </p:sp>
    </p:spTree>
    <p:extLst>
      <p:ext uri="{BB962C8B-B14F-4D97-AF65-F5344CB8AC3E}">
        <p14:creationId xmlns:p14="http://schemas.microsoft.com/office/powerpoint/2010/main" val="3178956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F578015-DAE0-46F2-88F1-98579F3E1237}"/>
              </a:ext>
            </a:extLst>
          </p:cNvPr>
          <p:cNvSpPr>
            <a:spLocks noGrp="1"/>
          </p:cNvSpPr>
          <p:nvPr>
            <p:ph type="title"/>
          </p:nvPr>
        </p:nvSpPr>
        <p:spPr>
          <a:xfrm>
            <a:off x="686834" y="1153572"/>
            <a:ext cx="3200400" cy="4461163"/>
          </a:xfrm>
        </p:spPr>
        <p:txBody>
          <a:bodyPr>
            <a:normAutofit/>
          </a:bodyPr>
          <a:lstStyle/>
          <a:p>
            <a:r>
              <a:rPr lang="tr-TR">
                <a:solidFill>
                  <a:srgbClr val="FFFFFF"/>
                </a:solidFill>
              </a:rPr>
              <a:t>Persistence Techniques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F94DBE43-DA11-4BC2-A936-C6F907E23EC3}"/>
              </a:ext>
            </a:extLst>
          </p:cNvPr>
          <p:cNvSpPr>
            <a:spLocks noGrp="1"/>
          </p:cNvSpPr>
          <p:nvPr>
            <p:ph idx="1"/>
          </p:nvPr>
        </p:nvSpPr>
        <p:spPr>
          <a:xfrm>
            <a:off x="4447308" y="591344"/>
            <a:ext cx="6906491" cy="5585619"/>
          </a:xfrm>
        </p:spPr>
        <p:txBody>
          <a:bodyPr anchor="ctr">
            <a:normAutofit/>
          </a:bodyPr>
          <a:lstStyle/>
          <a:p>
            <a:r>
              <a:rPr lang="tr-TR" dirty="0"/>
              <a:t>.</a:t>
            </a:r>
            <a:r>
              <a:rPr lang="tr-TR" dirty="0" err="1"/>
              <a:t>bash_profile</a:t>
            </a:r>
            <a:r>
              <a:rPr lang="tr-TR" dirty="0"/>
              <a:t> </a:t>
            </a:r>
            <a:r>
              <a:rPr lang="tr-TR" dirty="0" err="1"/>
              <a:t>and</a:t>
            </a:r>
            <a:r>
              <a:rPr lang="tr-TR" dirty="0"/>
              <a:t> .</a:t>
            </a:r>
            <a:r>
              <a:rPr lang="tr-TR" dirty="0" err="1"/>
              <a:t>bashrc</a:t>
            </a:r>
            <a:r>
              <a:rPr lang="tr-TR" dirty="0"/>
              <a:t>  </a:t>
            </a:r>
          </a:p>
          <a:p>
            <a:r>
              <a:rPr lang="tr-TR" dirty="0"/>
              <a:t>Accessibility </a:t>
            </a:r>
            <a:r>
              <a:rPr lang="tr-TR" dirty="0" err="1"/>
              <a:t>Features</a:t>
            </a:r>
            <a:endParaRPr lang="tr-TR" dirty="0"/>
          </a:p>
          <a:p>
            <a:r>
              <a:rPr lang="tr-TR" dirty="0" err="1">
                <a:highlight>
                  <a:srgbClr val="FFFF00"/>
                </a:highlight>
              </a:rPr>
              <a:t>Account</a:t>
            </a:r>
            <a:r>
              <a:rPr lang="tr-TR" dirty="0">
                <a:highlight>
                  <a:srgbClr val="FFFF00"/>
                </a:highlight>
              </a:rPr>
              <a:t> </a:t>
            </a:r>
            <a:r>
              <a:rPr lang="tr-TR" dirty="0" err="1">
                <a:highlight>
                  <a:srgbClr val="FFFF00"/>
                </a:highlight>
              </a:rPr>
              <a:t>Manipulation</a:t>
            </a:r>
            <a:endParaRPr lang="tr-TR" dirty="0">
              <a:highlight>
                <a:srgbClr val="FFFF00"/>
              </a:highlight>
            </a:endParaRPr>
          </a:p>
          <a:p>
            <a:r>
              <a:rPr lang="tr-TR" dirty="0" err="1"/>
              <a:t>Authentication</a:t>
            </a:r>
            <a:r>
              <a:rPr lang="tr-TR" dirty="0"/>
              <a:t> </a:t>
            </a:r>
            <a:r>
              <a:rPr lang="tr-TR" dirty="0" err="1"/>
              <a:t>Package</a:t>
            </a:r>
            <a:endParaRPr lang="tr-TR" dirty="0"/>
          </a:p>
          <a:p>
            <a:r>
              <a:rPr lang="tr-TR" dirty="0" err="1">
                <a:highlight>
                  <a:srgbClr val="FFFF00"/>
                </a:highlight>
              </a:rPr>
              <a:t>Create</a:t>
            </a:r>
            <a:r>
              <a:rPr lang="tr-TR" dirty="0">
                <a:highlight>
                  <a:srgbClr val="FFFF00"/>
                </a:highlight>
              </a:rPr>
              <a:t> </a:t>
            </a:r>
            <a:r>
              <a:rPr lang="tr-TR" dirty="0" err="1">
                <a:highlight>
                  <a:srgbClr val="FFFF00"/>
                </a:highlight>
              </a:rPr>
              <a:t>Account</a:t>
            </a:r>
            <a:endParaRPr lang="tr-TR" dirty="0">
              <a:highlight>
                <a:srgbClr val="FFFF00"/>
              </a:highlight>
            </a:endParaRPr>
          </a:p>
          <a:p>
            <a:r>
              <a:rPr lang="tr-TR" dirty="0" err="1"/>
              <a:t>Dylib</a:t>
            </a:r>
            <a:r>
              <a:rPr lang="tr-TR" dirty="0"/>
              <a:t> </a:t>
            </a:r>
            <a:r>
              <a:rPr lang="tr-TR" dirty="0" err="1"/>
              <a:t>Hijacking</a:t>
            </a:r>
            <a:endParaRPr lang="tr-TR" dirty="0"/>
          </a:p>
          <a:p>
            <a:r>
              <a:rPr lang="tr-TR" dirty="0" err="1">
                <a:highlight>
                  <a:srgbClr val="FFFF00"/>
                </a:highlight>
              </a:rPr>
              <a:t>Valid</a:t>
            </a:r>
            <a:r>
              <a:rPr lang="tr-TR" dirty="0">
                <a:highlight>
                  <a:srgbClr val="FFFF00"/>
                </a:highlight>
              </a:rPr>
              <a:t> </a:t>
            </a:r>
            <a:r>
              <a:rPr lang="tr-TR" dirty="0" err="1">
                <a:highlight>
                  <a:srgbClr val="FFFF00"/>
                </a:highlight>
              </a:rPr>
              <a:t>Accounts</a:t>
            </a:r>
            <a:endParaRPr lang="tr-TR" dirty="0">
              <a:highlight>
                <a:srgbClr val="FFFF00"/>
              </a:highlight>
            </a:endParaRPr>
          </a:p>
          <a:p>
            <a:r>
              <a:rPr lang="tr-TR" dirty="0" err="1"/>
              <a:t>Hooking</a:t>
            </a:r>
            <a:endParaRPr lang="tr-TR" dirty="0"/>
          </a:p>
          <a:p>
            <a:endParaRPr lang="tr-TR" dirty="0"/>
          </a:p>
        </p:txBody>
      </p:sp>
    </p:spTree>
    <p:extLst>
      <p:ext uri="{BB962C8B-B14F-4D97-AF65-F5344CB8AC3E}">
        <p14:creationId xmlns:p14="http://schemas.microsoft.com/office/powerpoint/2010/main" val="1460901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E6C4A92-3C72-460B-B235-4901F85DA4C7}"/>
              </a:ext>
            </a:extLst>
          </p:cNvPr>
          <p:cNvSpPr>
            <a:spLocks noGrp="1"/>
          </p:cNvSpPr>
          <p:nvPr>
            <p:ph type="title"/>
          </p:nvPr>
        </p:nvSpPr>
        <p:spPr>
          <a:xfrm>
            <a:off x="686834" y="1153572"/>
            <a:ext cx="3200400" cy="4461163"/>
          </a:xfrm>
        </p:spPr>
        <p:txBody>
          <a:bodyPr>
            <a:normAutofit/>
          </a:bodyPr>
          <a:lstStyle/>
          <a:p>
            <a:r>
              <a:rPr lang="tr-TR" dirty="0" err="1">
                <a:solidFill>
                  <a:srgbClr val="FFFFFF"/>
                </a:solidFill>
              </a:rPr>
              <a:t>Account</a:t>
            </a:r>
            <a:r>
              <a:rPr lang="tr-TR" dirty="0">
                <a:solidFill>
                  <a:srgbClr val="FFFFFF"/>
                </a:solidFill>
              </a:rPr>
              <a:t> </a:t>
            </a:r>
            <a:r>
              <a:rPr lang="tr-TR" dirty="0" err="1">
                <a:solidFill>
                  <a:srgbClr val="FFFFFF"/>
                </a:solidFill>
              </a:rPr>
              <a:t>Manipulation</a:t>
            </a:r>
            <a:br>
              <a:rPr lang="tr-TR" dirty="0">
                <a:solidFill>
                  <a:srgbClr val="FFFFFF"/>
                </a:solidFill>
              </a:rPr>
            </a:br>
            <a:endParaRPr lang="tr-T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EF430E2A-DC77-45AB-99F8-3BD68A4CFD7B}"/>
              </a:ext>
            </a:extLst>
          </p:cNvPr>
          <p:cNvSpPr>
            <a:spLocks noGrp="1"/>
          </p:cNvSpPr>
          <p:nvPr>
            <p:ph idx="1"/>
          </p:nvPr>
        </p:nvSpPr>
        <p:spPr>
          <a:xfrm>
            <a:off x="4447308" y="591344"/>
            <a:ext cx="6906491" cy="5585619"/>
          </a:xfrm>
        </p:spPr>
        <p:txBody>
          <a:bodyPr anchor="ctr">
            <a:normAutofit/>
          </a:bodyPr>
          <a:lstStyle/>
          <a:p>
            <a:r>
              <a:rPr lang="en-US" sz="2400" dirty="0"/>
              <a:t>Account manipulation may aid adversaries in </a:t>
            </a:r>
            <a:r>
              <a:rPr lang="en-US" sz="2400" dirty="0">
                <a:highlight>
                  <a:srgbClr val="FF0000"/>
                </a:highlight>
              </a:rPr>
              <a:t>maintaining access to credentials and certain permission levels within an environment</a:t>
            </a:r>
            <a:r>
              <a:rPr lang="en-US" sz="2400" dirty="0"/>
              <a:t>. Manipulation could consist of </a:t>
            </a:r>
            <a:r>
              <a:rPr lang="en-US" sz="2400" dirty="0">
                <a:highlight>
                  <a:srgbClr val="FFFF00"/>
                </a:highlight>
              </a:rPr>
              <a:t>modifying permissions</a:t>
            </a:r>
            <a:r>
              <a:rPr lang="en-US" sz="2400" dirty="0"/>
              <a:t>, </a:t>
            </a:r>
            <a:r>
              <a:rPr lang="en-US" sz="2400" dirty="0">
                <a:highlight>
                  <a:srgbClr val="FFFF00"/>
                </a:highlight>
              </a:rPr>
              <a:t>modifying credentials</a:t>
            </a:r>
            <a:r>
              <a:rPr lang="en-US" sz="2400" dirty="0"/>
              <a:t>, </a:t>
            </a:r>
            <a:r>
              <a:rPr lang="en-US" sz="2400" dirty="0">
                <a:highlight>
                  <a:srgbClr val="FFFF00"/>
                </a:highlight>
              </a:rPr>
              <a:t>adding or changing permission groups</a:t>
            </a:r>
            <a:r>
              <a:rPr lang="en-US" sz="2400" dirty="0"/>
              <a:t>, </a:t>
            </a:r>
            <a:r>
              <a:rPr lang="en-US" sz="2400" dirty="0">
                <a:highlight>
                  <a:srgbClr val="FFFF00"/>
                </a:highlight>
              </a:rPr>
              <a:t>modifying account settings</a:t>
            </a:r>
            <a:r>
              <a:rPr lang="en-US" sz="2400" dirty="0"/>
              <a:t>, or </a:t>
            </a:r>
            <a:r>
              <a:rPr lang="en-US" sz="2400" dirty="0">
                <a:highlight>
                  <a:srgbClr val="FFFF00"/>
                </a:highlight>
              </a:rPr>
              <a:t>modifying how authentication is performed</a:t>
            </a:r>
            <a:r>
              <a:rPr lang="en-US" sz="2400" dirty="0"/>
              <a:t>. These actions could also include account activity designed to subvert security policies, such as performing iterative password updates to subvert password duration policies and </a:t>
            </a:r>
            <a:r>
              <a:rPr lang="en-US" sz="2400" dirty="0">
                <a:highlight>
                  <a:srgbClr val="FFFF00"/>
                </a:highlight>
              </a:rPr>
              <a:t>preserve the life of compromised credentials</a:t>
            </a:r>
            <a:r>
              <a:rPr lang="en-US" sz="2400" dirty="0"/>
              <a:t>. In order to create or manipulate accounts, the adversary must already </a:t>
            </a:r>
            <a:r>
              <a:rPr lang="en-US" sz="2400" dirty="0">
                <a:highlight>
                  <a:srgbClr val="FFFF00"/>
                </a:highlight>
              </a:rPr>
              <a:t>have sufficient permissions on systems or the domain</a:t>
            </a:r>
            <a:r>
              <a:rPr lang="en-US" sz="2400" dirty="0"/>
              <a:t>.</a:t>
            </a:r>
            <a:endParaRPr lang="tr-TR" sz="2400" dirty="0"/>
          </a:p>
        </p:txBody>
      </p:sp>
    </p:spTree>
    <p:extLst>
      <p:ext uri="{BB962C8B-B14F-4D97-AF65-F5344CB8AC3E}">
        <p14:creationId xmlns:p14="http://schemas.microsoft.com/office/powerpoint/2010/main" val="319190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C409C6B-12EF-44B5-BC24-EB17A497EA5B}"/>
              </a:ext>
            </a:extLst>
          </p:cNvPr>
          <p:cNvSpPr>
            <a:spLocks noGrp="1"/>
          </p:cNvSpPr>
          <p:nvPr>
            <p:ph type="title"/>
          </p:nvPr>
        </p:nvSpPr>
        <p:spPr>
          <a:xfrm>
            <a:off x="686834" y="591344"/>
            <a:ext cx="3200400" cy="5585619"/>
          </a:xfrm>
        </p:spPr>
        <p:txBody>
          <a:bodyPr>
            <a:normAutofit/>
          </a:bodyPr>
          <a:lstStyle/>
          <a:p>
            <a:r>
              <a:rPr lang="tr-TR">
                <a:solidFill>
                  <a:srgbClr val="FFFFFF"/>
                </a:solidFill>
              </a:rPr>
              <a:t>Account Manipulation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BCE369A7-CDA3-4347-ACB2-E647E2F0DB9D}"/>
              </a:ext>
            </a:extLst>
          </p:cNvPr>
          <p:cNvSpPr>
            <a:spLocks noGrp="1"/>
          </p:cNvSpPr>
          <p:nvPr>
            <p:ph idx="1"/>
          </p:nvPr>
        </p:nvSpPr>
        <p:spPr>
          <a:xfrm>
            <a:off x="4447308" y="591344"/>
            <a:ext cx="6906491" cy="5585619"/>
          </a:xfrm>
        </p:spPr>
        <p:txBody>
          <a:bodyPr anchor="ctr">
            <a:normAutofit/>
          </a:bodyPr>
          <a:lstStyle/>
          <a:p>
            <a:r>
              <a:rPr lang="tr-TR" sz="2000" dirty="0"/>
              <a:t>ID: T1098</a:t>
            </a:r>
          </a:p>
          <a:p>
            <a:r>
              <a:rPr lang="tr-TR" sz="2000" dirty="0" err="1"/>
              <a:t>Tactic</a:t>
            </a:r>
            <a:r>
              <a:rPr lang="tr-TR" sz="2000" dirty="0"/>
              <a:t>: </a:t>
            </a:r>
            <a:r>
              <a:rPr lang="tr-TR" sz="2000" dirty="0" err="1">
                <a:highlight>
                  <a:srgbClr val="FFFF00"/>
                </a:highlight>
              </a:rPr>
              <a:t>Credential</a:t>
            </a:r>
            <a:r>
              <a:rPr lang="tr-TR" sz="2000" dirty="0">
                <a:highlight>
                  <a:srgbClr val="FFFF00"/>
                </a:highlight>
              </a:rPr>
              <a:t> Access</a:t>
            </a:r>
            <a:r>
              <a:rPr lang="tr-TR" sz="2000" dirty="0"/>
              <a:t>, </a:t>
            </a:r>
            <a:r>
              <a:rPr lang="tr-TR" sz="2000" dirty="0" err="1"/>
              <a:t>Persistence</a:t>
            </a:r>
            <a:endParaRPr lang="tr-TR" sz="2000" dirty="0"/>
          </a:p>
          <a:p>
            <a:r>
              <a:rPr lang="tr-TR" sz="2000" dirty="0"/>
              <a:t>Platform: Windows, Office 365, </a:t>
            </a:r>
            <a:r>
              <a:rPr lang="tr-TR" sz="2000" dirty="0" err="1"/>
              <a:t>Azure</a:t>
            </a:r>
            <a:r>
              <a:rPr lang="tr-TR" sz="2000" dirty="0"/>
              <a:t>, GCP, </a:t>
            </a:r>
            <a:r>
              <a:rPr lang="tr-TR" sz="2000" dirty="0" err="1"/>
              <a:t>Azure</a:t>
            </a:r>
            <a:r>
              <a:rPr lang="tr-TR" sz="2000" dirty="0"/>
              <a:t> AD, AWS</a:t>
            </a:r>
          </a:p>
          <a:p>
            <a:r>
              <a:rPr lang="tr-TR" sz="2000" dirty="0" err="1"/>
              <a:t>System</a:t>
            </a:r>
            <a:r>
              <a:rPr lang="tr-TR" sz="2000" dirty="0"/>
              <a:t> </a:t>
            </a:r>
            <a:r>
              <a:rPr lang="tr-TR" sz="2000" dirty="0" err="1"/>
              <a:t>Requirements</a:t>
            </a:r>
            <a:r>
              <a:rPr lang="tr-TR" sz="2000" dirty="0"/>
              <a:t>: Exchange </a:t>
            </a:r>
            <a:r>
              <a:rPr lang="tr-TR" sz="2000" dirty="0" err="1"/>
              <a:t>email</a:t>
            </a:r>
            <a:r>
              <a:rPr lang="tr-TR" sz="2000" dirty="0"/>
              <a:t> </a:t>
            </a:r>
            <a:r>
              <a:rPr lang="tr-TR" sz="2000" dirty="0" err="1"/>
              <a:t>account</a:t>
            </a:r>
            <a:r>
              <a:rPr lang="tr-TR" sz="2000" dirty="0"/>
              <a:t> </a:t>
            </a:r>
            <a:r>
              <a:rPr lang="tr-TR" sz="2000" dirty="0" err="1"/>
              <a:t>takeover</a:t>
            </a:r>
            <a:r>
              <a:rPr lang="tr-TR" sz="2000" dirty="0"/>
              <a:t>: </a:t>
            </a:r>
            <a:r>
              <a:rPr lang="tr-TR" sz="2000" dirty="0" err="1"/>
              <a:t>Sufficient</a:t>
            </a:r>
            <a:r>
              <a:rPr lang="tr-TR" sz="2000" dirty="0"/>
              <a:t> </a:t>
            </a:r>
            <a:r>
              <a:rPr lang="tr-TR" sz="2000" dirty="0" err="1"/>
              <a:t>permission</a:t>
            </a:r>
            <a:r>
              <a:rPr lang="tr-TR" sz="2000" dirty="0"/>
              <a:t> </a:t>
            </a:r>
            <a:r>
              <a:rPr lang="tr-TR" sz="2000" dirty="0" err="1"/>
              <a:t>to</a:t>
            </a:r>
            <a:r>
              <a:rPr lang="tr-TR" sz="2000" dirty="0"/>
              <a:t> </a:t>
            </a:r>
            <a:r>
              <a:rPr lang="tr-TR" sz="2000" dirty="0" err="1"/>
              <a:t>run</a:t>
            </a:r>
            <a:r>
              <a:rPr lang="tr-TR" sz="2000" dirty="0"/>
              <a:t> </a:t>
            </a:r>
            <a:r>
              <a:rPr lang="tr-TR" sz="2000" dirty="0" err="1"/>
              <a:t>the</a:t>
            </a:r>
            <a:r>
              <a:rPr lang="tr-TR" sz="2000" dirty="0"/>
              <a:t> </a:t>
            </a:r>
            <a:r>
              <a:rPr lang="tr-TR" sz="2000" dirty="0" err="1"/>
              <a:t>Add-MailboxPermission</a:t>
            </a:r>
            <a:r>
              <a:rPr lang="tr-TR" sz="2000" dirty="0"/>
              <a:t> </a:t>
            </a:r>
            <a:r>
              <a:rPr lang="tr-TR" sz="2000" dirty="0" err="1"/>
              <a:t>PowerShell</a:t>
            </a:r>
            <a:r>
              <a:rPr lang="tr-TR" sz="2000" dirty="0"/>
              <a:t> </a:t>
            </a:r>
            <a:r>
              <a:rPr lang="tr-TR" sz="2000" dirty="0" err="1"/>
              <a:t>cmdlet</a:t>
            </a:r>
            <a:r>
              <a:rPr lang="tr-TR" sz="2000" dirty="0"/>
              <a:t> (</a:t>
            </a:r>
            <a:r>
              <a:rPr lang="tr-TR" sz="2000" dirty="0" err="1"/>
              <a:t>depending</a:t>
            </a:r>
            <a:r>
              <a:rPr lang="tr-TR" sz="2000" dirty="0"/>
              <a:t> on </a:t>
            </a:r>
            <a:r>
              <a:rPr lang="tr-TR" sz="2000" dirty="0" err="1"/>
              <a:t>parameters</a:t>
            </a:r>
            <a:r>
              <a:rPr lang="tr-TR" sz="2000" dirty="0"/>
              <a:t> </a:t>
            </a:r>
            <a:r>
              <a:rPr lang="tr-TR" sz="2000" dirty="0" err="1"/>
              <a:t>used</a:t>
            </a:r>
            <a:r>
              <a:rPr lang="tr-TR" sz="2000" dirty="0"/>
              <a:t>, </a:t>
            </a:r>
            <a:r>
              <a:rPr lang="tr-TR" sz="2000" dirty="0" err="1"/>
              <a:t>may</a:t>
            </a:r>
            <a:r>
              <a:rPr lang="tr-TR" sz="2000" dirty="0"/>
              <a:t> </a:t>
            </a:r>
            <a:r>
              <a:rPr lang="tr-TR" sz="2000" dirty="0" err="1"/>
              <a:t>require</a:t>
            </a:r>
            <a:r>
              <a:rPr lang="tr-TR" sz="2000" dirty="0"/>
              <a:t> </a:t>
            </a:r>
            <a:r>
              <a:rPr lang="tr-TR" sz="2000" dirty="0" err="1"/>
              <a:t>more</a:t>
            </a:r>
            <a:r>
              <a:rPr lang="tr-TR" sz="2000" dirty="0"/>
              <a:t> </a:t>
            </a:r>
            <a:r>
              <a:rPr lang="tr-TR" sz="2000" dirty="0" err="1"/>
              <a:t>permission</a:t>
            </a:r>
            <a:r>
              <a:rPr lang="tr-TR" sz="2000" dirty="0"/>
              <a:t>)</a:t>
            </a:r>
          </a:p>
          <a:p>
            <a:r>
              <a:rPr lang="tr-TR" sz="2000" dirty="0" err="1"/>
              <a:t>Permissions</a:t>
            </a:r>
            <a:r>
              <a:rPr lang="tr-TR" sz="2000" dirty="0"/>
              <a:t> </a:t>
            </a:r>
            <a:r>
              <a:rPr lang="tr-TR" sz="2000" dirty="0" err="1"/>
              <a:t>Required</a:t>
            </a:r>
            <a:r>
              <a:rPr lang="tr-TR" sz="2000" dirty="0"/>
              <a:t>: Administrator</a:t>
            </a:r>
          </a:p>
          <a:p>
            <a:r>
              <a:rPr lang="tr-TR" sz="2000" dirty="0"/>
              <a:t>Data </a:t>
            </a:r>
            <a:r>
              <a:rPr lang="tr-TR" sz="2000" dirty="0" err="1"/>
              <a:t>Sources</a:t>
            </a:r>
            <a:r>
              <a:rPr lang="tr-TR" sz="2000" dirty="0"/>
              <a:t>: </a:t>
            </a:r>
            <a:r>
              <a:rPr lang="tr-TR" sz="2000" dirty="0" err="1">
                <a:highlight>
                  <a:srgbClr val="FF0000"/>
                </a:highlight>
              </a:rPr>
              <a:t>Authentication</a:t>
            </a:r>
            <a:r>
              <a:rPr lang="tr-TR" sz="2000" dirty="0">
                <a:highlight>
                  <a:srgbClr val="FF0000"/>
                </a:highlight>
              </a:rPr>
              <a:t> </a:t>
            </a:r>
            <a:r>
              <a:rPr lang="tr-TR" sz="2000" dirty="0" err="1">
                <a:highlight>
                  <a:srgbClr val="FF0000"/>
                </a:highlight>
              </a:rPr>
              <a:t>logs</a:t>
            </a:r>
            <a:r>
              <a:rPr lang="tr-TR" sz="2000" dirty="0"/>
              <a:t>, API </a:t>
            </a:r>
            <a:r>
              <a:rPr lang="tr-TR" sz="2000" dirty="0" err="1"/>
              <a:t>monitoring</a:t>
            </a:r>
            <a:r>
              <a:rPr lang="tr-TR" sz="2000" dirty="0"/>
              <a:t>, Windows </a:t>
            </a:r>
            <a:r>
              <a:rPr lang="tr-TR" sz="2000" dirty="0" err="1"/>
              <a:t>event</a:t>
            </a:r>
            <a:r>
              <a:rPr lang="tr-TR" sz="2000" dirty="0"/>
              <a:t> </a:t>
            </a:r>
            <a:r>
              <a:rPr lang="tr-TR" sz="2000" dirty="0" err="1"/>
              <a:t>logs</a:t>
            </a:r>
            <a:r>
              <a:rPr lang="tr-TR" sz="2000" dirty="0"/>
              <a:t>, </a:t>
            </a:r>
            <a:r>
              <a:rPr lang="tr-TR" sz="2000" dirty="0" err="1">
                <a:highlight>
                  <a:srgbClr val="FF0000"/>
                </a:highlight>
              </a:rPr>
              <a:t>Packet</a:t>
            </a:r>
            <a:r>
              <a:rPr lang="tr-TR" sz="2000" dirty="0">
                <a:highlight>
                  <a:srgbClr val="FF0000"/>
                </a:highlight>
              </a:rPr>
              <a:t> </a:t>
            </a:r>
            <a:r>
              <a:rPr lang="tr-TR" sz="2000" dirty="0" err="1">
                <a:highlight>
                  <a:srgbClr val="FF0000"/>
                </a:highlight>
              </a:rPr>
              <a:t>capture</a:t>
            </a:r>
            <a:endParaRPr lang="tr-TR" sz="2000" dirty="0">
              <a:highlight>
                <a:srgbClr val="FF0000"/>
              </a:highlight>
            </a:endParaRPr>
          </a:p>
          <a:p>
            <a:r>
              <a:rPr lang="tr-TR" sz="2000" dirty="0" err="1"/>
              <a:t>Contributors</a:t>
            </a:r>
            <a:r>
              <a:rPr lang="tr-TR" sz="2000" dirty="0"/>
              <a:t>: </a:t>
            </a:r>
            <a:r>
              <a:rPr lang="tr-TR" sz="2000" dirty="0" err="1"/>
              <a:t>Jannie</a:t>
            </a:r>
            <a:r>
              <a:rPr lang="tr-TR" sz="2000" dirty="0"/>
              <a:t> </a:t>
            </a:r>
            <a:r>
              <a:rPr lang="tr-TR" sz="2000" dirty="0" err="1"/>
              <a:t>Li</a:t>
            </a:r>
            <a:r>
              <a:rPr lang="tr-TR" sz="2000" dirty="0"/>
              <a:t>, Microsoft </a:t>
            </a:r>
            <a:r>
              <a:rPr lang="tr-TR" sz="2000" dirty="0" err="1"/>
              <a:t>Threat</a:t>
            </a:r>
            <a:r>
              <a:rPr lang="tr-TR" sz="2000" dirty="0"/>
              <a:t> </a:t>
            </a:r>
            <a:r>
              <a:rPr lang="tr-TR" sz="2000" dirty="0" err="1"/>
              <a:t>Intelligence</a:t>
            </a:r>
            <a:r>
              <a:rPr lang="tr-TR" sz="2000" dirty="0"/>
              <a:t> Center (MSTIC); </a:t>
            </a:r>
            <a:r>
              <a:rPr lang="tr-TR" sz="2000" dirty="0" err="1"/>
              <a:t>Praetorian</a:t>
            </a:r>
            <a:r>
              <a:rPr lang="tr-TR" sz="2000" dirty="0"/>
              <a:t>; Tim </a:t>
            </a:r>
            <a:r>
              <a:rPr lang="tr-TR" sz="2000" dirty="0" err="1"/>
              <a:t>MalcomVetter</a:t>
            </a:r>
            <a:endParaRPr lang="tr-TR" sz="2000" dirty="0"/>
          </a:p>
          <a:p>
            <a:r>
              <a:rPr lang="tr-TR" sz="2000" dirty="0" err="1"/>
              <a:t>Version</a:t>
            </a:r>
            <a:r>
              <a:rPr lang="tr-TR" sz="2000" dirty="0"/>
              <a:t>: 2.0</a:t>
            </a:r>
          </a:p>
          <a:p>
            <a:r>
              <a:rPr lang="tr-TR" sz="2000" dirty="0" err="1"/>
              <a:t>Created</a:t>
            </a:r>
            <a:r>
              <a:rPr lang="tr-TR" sz="2000" dirty="0"/>
              <a:t>: 31 May 2017</a:t>
            </a:r>
          </a:p>
          <a:p>
            <a:r>
              <a:rPr lang="tr-TR" sz="2000" dirty="0" err="1"/>
              <a:t>Last</a:t>
            </a:r>
            <a:r>
              <a:rPr lang="tr-TR" sz="2000" dirty="0"/>
              <a:t> </a:t>
            </a:r>
            <a:r>
              <a:rPr lang="tr-TR" sz="2000" dirty="0" err="1"/>
              <a:t>Modified</a:t>
            </a:r>
            <a:r>
              <a:rPr lang="tr-TR" sz="2000" dirty="0"/>
              <a:t>: 23 </a:t>
            </a:r>
            <a:r>
              <a:rPr lang="tr-TR" sz="2000" dirty="0" err="1"/>
              <a:t>October</a:t>
            </a:r>
            <a:r>
              <a:rPr lang="tr-TR" sz="2000" dirty="0"/>
              <a:t> 2019</a:t>
            </a:r>
          </a:p>
          <a:p>
            <a:endParaRPr lang="tr-TR" sz="2000" dirty="0"/>
          </a:p>
        </p:txBody>
      </p:sp>
    </p:spTree>
    <p:extLst>
      <p:ext uri="{BB962C8B-B14F-4D97-AF65-F5344CB8AC3E}">
        <p14:creationId xmlns:p14="http://schemas.microsoft.com/office/powerpoint/2010/main" val="3021767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CCD941D-8983-4AE8-8714-F6E1BD0C5B3C}"/>
              </a:ext>
            </a:extLst>
          </p:cNvPr>
          <p:cNvSpPr>
            <a:spLocks noGrp="1"/>
          </p:cNvSpPr>
          <p:nvPr>
            <p:ph type="title"/>
          </p:nvPr>
        </p:nvSpPr>
        <p:spPr>
          <a:xfrm>
            <a:off x="686834" y="591344"/>
            <a:ext cx="3200400" cy="5585619"/>
          </a:xfrm>
        </p:spPr>
        <p:txBody>
          <a:bodyPr>
            <a:normAutofit/>
          </a:bodyPr>
          <a:lstStyle/>
          <a:p>
            <a:r>
              <a:rPr lang="tr-TR">
                <a:solidFill>
                  <a:srgbClr val="FFFFFF"/>
                </a:solidFill>
              </a:rPr>
              <a:t>Account Manipulation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D5B55AEB-64D1-4E0E-A053-CBFC7B2D3EE4}"/>
              </a:ext>
            </a:extLst>
          </p:cNvPr>
          <p:cNvSpPr>
            <a:spLocks noGrp="1"/>
          </p:cNvSpPr>
          <p:nvPr>
            <p:ph idx="1"/>
          </p:nvPr>
        </p:nvSpPr>
        <p:spPr>
          <a:xfrm>
            <a:off x="4447308" y="591344"/>
            <a:ext cx="6906491" cy="5585619"/>
          </a:xfrm>
        </p:spPr>
        <p:txBody>
          <a:bodyPr anchor="ctr">
            <a:normAutofit/>
          </a:bodyPr>
          <a:lstStyle/>
          <a:p>
            <a:r>
              <a:rPr lang="tr-TR" sz="2200" dirty="0"/>
              <a:t>Exchange </a:t>
            </a:r>
            <a:r>
              <a:rPr lang="tr-TR" sz="2200" dirty="0" err="1"/>
              <a:t>Email</a:t>
            </a:r>
            <a:r>
              <a:rPr lang="tr-TR" sz="2200" dirty="0"/>
              <a:t> </a:t>
            </a:r>
            <a:r>
              <a:rPr lang="tr-TR" sz="2200" dirty="0" err="1"/>
              <a:t>Account</a:t>
            </a:r>
            <a:r>
              <a:rPr lang="tr-TR" sz="2200" dirty="0"/>
              <a:t> </a:t>
            </a:r>
            <a:r>
              <a:rPr lang="tr-TR" sz="2200" dirty="0" err="1"/>
              <a:t>Takeover</a:t>
            </a:r>
            <a:endParaRPr lang="tr-TR" sz="2200" dirty="0"/>
          </a:p>
          <a:p>
            <a:r>
              <a:rPr lang="en-US" sz="2200" dirty="0"/>
              <a:t>The Add-</a:t>
            </a:r>
            <a:r>
              <a:rPr lang="en-US" sz="2200" dirty="0" err="1"/>
              <a:t>MailboxPermission</a:t>
            </a:r>
            <a:r>
              <a:rPr lang="en-US" sz="2200" dirty="0"/>
              <a:t> PowerShell cmdlet, available in on-premises Exchange and in the cloud-based service Office 365, adds permissions to a mailbox.</a:t>
            </a:r>
            <a:r>
              <a:rPr lang="tr-TR" sz="2200" dirty="0"/>
              <a:t> </a:t>
            </a:r>
            <a:r>
              <a:rPr lang="en-US" sz="2200" dirty="0"/>
              <a:t>This command can be run, given adequate permissions, to further access granted to certain user accounts. This may be used in persistent threat incidents as well as BEC (Business Email Compromise) incidents where an adversary can assign more access rights to the accounts they wish to compromise. This may further enable use of additional techniques for gaining access to systems. For example, compromised business accounts are often used to send messages to other accounts in the network of the target business while creating inbox rules so the messages evade spam/phishing detection mechanisms.</a:t>
            </a:r>
          </a:p>
          <a:p>
            <a:pPr marL="0" indent="0">
              <a:buNone/>
            </a:pPr>
            <a:br>
              <a:rPr lang="en-US" sz="2200" dirty="0"/>
            </a:br>
            <a:endParaRPr lang="tr-TR" sz="2200" dirty="0"/>
          </a:p>
        </p:txBody>
      </p:sp>
    </p:spTree>
    <p:extLst>
      <p:ext uri="{BB962C8B-B14F-4D97-AF65-F5344CB8AC3E}">
        <p14:creationId xmlns:p14="http://schemas.microsoft.com/office/powerpoint/2010/main" val="1572068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26D77E-1C51-48B5-A4CC-337BDC529812}"/>
              </a:ext>
            </a:extLst>
          </p:cNvPr>
          <p:cNvSpPr>
            <a:spLocks noGrp="1"/>
          </p:cNvSpPr>
          <p:nvPr>
            <p:ph type="title"/>
          </p:nvPr>
        </p:nvSpPr>
        <p:spPr/>
        <p:txBody>
          <a:bodyPr/>
          <a:lstStyle/>
          <a:p>
            <a:r>
              <a:rPr lang="tr-TR" dirty="0" err="1"/>
              <a:t>Account</a:t>
            </a:r>
            <a:r>
              <a:rPr lang="tr-TR" dirty="0"/>
              <a:t> </a:t>
            </a:r>
            <a:r>
              <a:rPr lang="tr-TR" dirty="0" err="1"/>
              <a:t>Manipulation</a:t>
            </a:r>
            <a:r>
              <a:rPr lang="tr-TR" dirty="0"/>
              <a:t> </a:t>
            </a:r>
            <a:r>
              <a:rPr lang="tr-TR" dirty="0" err="1"/>
              <a:t>Procedure</a:t>
            </a:r>
            <a:r>
              <a:rPr lang="tr-TR" dirty="0"/>
              <a:t> </a:t>
            </a:r>
            <a:r>
              <a:rPr lang="tr-TR" dirty="0" err="1"/>
              <a:t>Examples</a:t>
            </a:r>
            <a:endParaRPr lang="tr-TR" dirty="0"/>
          </a:p>
        </p:txBody>
      </p:sp>
      <p:graphicFrame>
        <p:nvGraphicFramePr>
          <p:cNvPr id="4" name="İçerik Yer Tutucusu 3">
            <a:extLst>
              <a:ext uri="{FF2B5EF4-FFF2-40B4-BE49-F238E27FC236}">
                <a16:creationId xmlns:a16="http://schemas.microsoft.com/office/drawing/2014/main" id="{63848747-7111-4472-9A23-14CF01025F06}"/>
              </a:ext>
            </a:extLst>
          </p:cNvPr>
          <p:cNvGraphicFramePr>
            <a:graphicFrameLocks noGrp="1"/>
          </p:cNvGraphicFramePr>
          <p:nvPr>
            <p:ph idx="1"/>
            <p:extLst>
              <p:ext uri="{D42A27DB-BD31-4B8C-83A1-F6EECF244321}">
                <p14:modId xmlns:p14="http://schemas.microsoft.com/office/powerpoint/2010/main" val="1279727035"/>
              </p:ext>
            </p:extLst>
          </p:nvPr>
        </p:nvGraphicFramePr>
        <p:xfrm>
          <a:off x="4243793" y="1713662"/>
          <a:ext cx="3704414" cy="4575264"/>
        </p:xfrm>
        <a:graphic>
          <a:graphicData uri="http://schemas.openxmlformats.org/drawingml/2006/table">
            <a:tbl>
              <a:tblPr/>
              <a:tblGrid>
                <a:gridCol w="1852207">
                  <a:extLst>
                    <a:ext uri="{9D8B030D-6E8A-4147-A177-3AD203B41FA5}">
                      <a16:colId xmlns:a16="http://schemas.microsoft.com/office/drawing/2014/main" val="3330720727"/>
                    </a:ext>
                  </a:extLst>
                </a:gridCol>
                <a:gridCol w="1852207">
                  <a:extLst>
                    <a:ext uri="{9D8B030D-6E8A-4147-A177-3AD203B41FA5}">
                      <a16:colId xmlns:a16="http://schemas.microsoft.com/office/drawing/2014/main" val="3459980822"/>
                    </a:ext>
                  </a:extLst>
                </a:gridCol>
              </a:tblGrid>
              <a:tr h="154030">
                <a:tc>
                  <a:txBody>
                    <a:bodyPr/>
                    <a:lstStyle/>
                    <a:p>
                      <a:pPr algn="l" fontAlgn="b"/>
                      <a:r>
                        <a:rPr lang="tr-TR" sz="800">
                          <a:effectLst/>
                        </a:rPr>
                        <a:t>Name</a:t>
                      </a:r>
                    </a:p>
                  </a:txBody>
                  <a:tcPr marL="38507" marR="38507" marT="19254" marB="19254"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algn="l" fontAlgn="b"/>
                      <a:r>
                        <a:rPr lang="tr-TR" sz="800">
                          <a:effectLst/>
                        </a:rPr>
                        <a:t>Description</a:t>
                      </a:r>
                    </a:p>
                  </a:txBody>
                  <a:tcPr marL="38507" marR="38507" marT="19254" marB="19254"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166980591"/>
                  </a:ext>
                </a:extLst>
              </a:tr>
              <a:tr h="385074">
                <a:tc>
                  <a:txBody>
                    <a:bodyPr/>
                    <a:lstStyle/>
                    <a:p>
                      <a:pPr fontAlgn="t"/>
                      <a:r>
                        <a:rPr lang="tr-TR" sz="800" u="none" strike="noStrike" dirty="0">
                          <a:solidFill>
                            <a:srgbClr val="4F7CAC"/>
                          </a:solidFill>
                          <a:effectLst/>
                        </a:rPr>
                        <a:t>APT3</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u="none" strike="noStrike" dirty="0">
                          <a:solidFill>
                            <a:srgbClr val="4F7CAC"/>
                          </a:solidFill>
                          <a:effectLst/>
                        </a:rPr>
                        <a:t>APT3</a:t>
                      </a:r>
                      <a:r>
                        <a:rPr lang="en-US" sz="800" dirty="0">
                          <a:effectLst/>
                        </a:rPr>
                        <a:t> has been known to add created accounts to local admin groups to maintain elevated access.</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597191606"/>
                  </a:ext>
                </a:extLst>
              </a:tr>
              <a:tr h="269552">
                <a:tc>
                  <a:txBody>
                    <a:bodyPr/>
                    <a:lstStyle/>
                    <a:p>
                      <a:pPr fontAlgn="t"/>
                      <a:r>
                        <a:rPr lang="tr-TR" sz="800" u="none" strike="noStrike" dirty="0" err="1">
                          <a:solidFill>
                            <a:srgbClr val="4F7CAC"/>
                          </a:solidFill>
                          <a:effectLst/>
                        </a:rPr>
                        <a:t>Calisto</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u="none" strike="noStrike" dirty="0">
                          <a:solidFill>
                            <a:srgbClr val="4F7CAC"/>
                          </a:solidFill>
                          <a:effectLst/>
                        </a:rPr>
                        <a:t>Calisto</a:t>
                      </a:r>
                      <a:r>
                        <a:rPr lang="en-US" sz="800" dirty="0">
                          <a:effectLst/>
                        </a:rPr>
                        <a:t> adds permissions and remote logins to all users.</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905761884"/>
                  </a:ext>
                </a:extLst>
              </a:tr>
              <a:tr h="385074">
                <a:tc>
                  <a:txBody>
                    <a:bodyPr/>
                    <a:lstStyle/>
                    <a:p>
                      <a:pPr fontAlgn="t"/>
                      <a:r>
                        <a:rPr lang="tr-TR" sz="800" u="none" strike="noStrike" dirty="0" err="1">
                          <a:solidFill>
                            <a:srgbClr val="4F7CAC"/>
                          </a:solidFill>
                          <a:effectLst/>
                        </a:rPr>
                        <a:t>Dragonfly</a:t>
                      </a:r>
                      <a:r>
                        <a:rPr lang="tr-TR" sz="800" u="none" strike="noStrike" dirty="0">
                          <a:solidFill>
                            <a:srgbClr val="4F7CAC"/>
                          </a:solidFill>
                          <a:effectLst/>
                        </a:rPr>
                        <a:t> 2.0</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u="none" strike="noStrike" dirty="0">
                          <a:solidFill>
                            <a:srgbClr val="4F7CAC"/>
                          </a:solidFill>
                          <a:effectLst/>
                        </a:rPr>
                        <a:t>Dragonfly 2.0</a:t>
                      </a:r>
                      <a:r>
                        <a:rPr lang="en-US" sz="800" dirty="0">
                          <a:effectLst/>
                        </a:rPr>
                        <a:t> added newly created accounts to the administrators group to maintain elevated access.</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910945424"/>
                  </a:ext>
                </a:extLst>
              </a:tr>
              <a:tr h="385074">
                <a:tc>
                  <a:txBody>
                    <a:bodyPr/>
                    <a:lstStyle/>
                    <a:p>
                      <a:pPr fontAlgn="t"/>
                      <a:r>
                        <a:rPr lang="tr-TR" sz="800" u="none" strike="noStrike" dirty="0" err="1">
                          <a:solidFill>
                            <a:srgbClr val="4F7CAC"/>
                          </a:solidFill>
                          <a:effectLst/>
                        </a:rPr>
                        <a:t>Lazarus</a:t>
                      </a:r>
                      <a:r>
                        <a:rPr lang="tr-TR" sz="800" u="none" strike="noStrike" dirty="0">
                          <a:solidFill>
                            <a:srgbClr val="4F7CAC"/>
                          </a:solidFill>
                          <a:effectLst/>
                        </a:rPr>
                        <a:t> </a:t>
                      </a:r>
                      <a:r>
                        <a:rPr lang="tr-TR" sz="800" u="none" strike="noStrike" dirty="0" err="1">
                          <a:solidFill>
                            <a:srgbClr val="4F7CAC"/>
                          </a:solidFill>
                          <a:effectLst/>
                        </a:rPr>
                        <a:t>Group</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u="none" strike="noStrike" dirty="0">
                          <a:solidFill>
                            <a:srgbClr val="4F7CAC"/>
                          </a:solidFill>
                          <a:effectLst/>
                        </a:rPr>
                        <a:t>Lazarus Group</a:t>
                      </a:r>
                      <a:r>
                        <a:rPr lang="en-US" sz="800" dirty="0">
                          <a:effectLst/>
                        </a:rPr>
                        <a:t> malware </a:t>
                      </a:r>
                      <a:r>
                        <a:rPr lang="en-US" sz="800" dirty="0" err="1">
                          <a:effectLst/>
                        </a:rPr>
                        <a:t>WhiskeyDelta</a:t>
                      </a:r>
                      <a:r>
                        <a:rPr lang="en-US" sz="800" dirty="0">
                          <a:effectLst/>
                        </a:rPr>
                        <a:t>-Two contains a function that attempts to rename the administrator’s account.</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685782374"/>
                  </a:ext>
                </a:extLst>
              </a:tr>
              <a:tr h="962685">
                <a:tc>
                  <a:txBody>
                    <a:bodyPr/>
                    <a:lstStyle/>
                    <a:p>
                      <a:pPr fontAlgn="t"/>
                      <a:r>
                        <a:rPr lang="tr-TR" sz="800" u="none" strike="noStrike" dirty="0">
                          <a:solidFill>
                            <a:srgbClr val="4F7CAC"/>
                          </a:solidFill>
                          <a:effectLst/>
                        </a:rPr>
                        <a:t>Magic </a:t>
                      </a:r>
                      <a:r>
                        <a:rPr lang="tr-TR" sz="800" u="none" strike="noStrike" dirty="0" err="1">
                          <a:solidFill>
                            <a:srgbClr val="4F7CAC"/>
                          </a:solidFill>
                          <a:effectLst/>
                        </a:rPr>
                        <a:t>Hound</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u="none" strike="noStrike" dirty="0">
                          <a:solidFill>
                            <a:srgbClr val="4F7CAC"/>
                          </a:solidFill>
                          <a:effectLst/>
                        </a:rPr>
                        <a:t>Magic Hound</a:t>
                      </a:r>
                      <a:r>
                        <a:rPr lang="en-US" sz="800" dirty="0">
                          <a:effectLst/>
                        </a:rPr>
                        <a:t> granted compromised email accounts read access to the email boxes of additional targeted accounts. The group then was able to authenticate to the intended victim's OWA (Outlook Web Access) portal and read hundreds of email communications for information on Middle East organizations.</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360362861"/>
                  </a:ext>
                </a:extLst>
              </a:tr>
              <a:tr h="962685">
                <a:tc>
                  <a:txBody>
                    <a:bodyPr/>
                    <a:lstStyle/>
                    <a:p>
                      <a:pPr fontAlgn="t"/>
                      <a:r>
                        <a:rPr lang="tr-TR" sz="800" u="none" strike="noStrike" dirty="0" err="1">
                          <a:solidFill>
                            <a:srgbClr val="4F7CAC"/>
                          </a:solidFill>
                          <a:effectLst/>
                        </a:rPr>
                        <a:t>Mimikatz</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dirty="0">
                          <a:effectLst/>
                        </a:rPr>
                        <a:t>The </a:t>
                      </a:r>
                      <a:r>
                        <a:rPr lang="en-US" sz="800" u="none" strike="noStrike" dirty="0">
                          <a:solidFill>
                            <a:srgbClr val="4F7CAC"/>
                          </a:solidFill>
                          <a:effectLst/>
                        </a:rPr>
                        <a:t>Mimi Katz</a:t>
                      </a:r>
                      <a:r>
                        <a:rPr lang="en-US" sz="800" dirty="0">
                          <a:effectLst/>
                        </a:rPr>
                        <a:t> credential dumper has been extended to include Skeleton Key domain controller authentication bypass functionality. The LSADUMP::</a:t>
                      </a:r>
                      <a:r>
                        <a:rPr lang="en-US" sz="800" dirty="0" err="1">
                          <a:effectLst/>
                        </a:rPr>
                        <a:t>ChangeNTLM</a:t>
                      </a:r>
                      <a:r>
                        <a:rPr lang="en-US" sz="800" dirty="0">
                          <a:effectLst/>
                        </a:rPr>
                        <a:t> and LSADUMP::</a:t>
                      </a:r>
                      <a:r>
                        <a:rPr lang="en-US" sz="800" dirty="0" err="1">
                          <a:effectLst/>
                        </a:rPr>
                        <a:t>SetNTLM</a:t>
                      </a:r>
                      <a:r>
                        <a:rPr lang="en-US" sz="800" dirty="0">
                          <a:effectLst/>
                        </a:rPr>
                        <a:t> modules can also manipulate the password hash of an account without knowing the clear text value.</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669198526"/>
                  </a:ext>
                </a:extLst>
              </a:tr>
              <a:tr h="847163">
                <a:tc>
                  <a:txBody>
                    <a:bodyPr/>
                    <a:lstStyle/>
                    <a:p>
                      <a:pPr fontAlgn="t"/>
                      <a:r>
                        <a:rPr lang="tr-TR" sz="800" u="none" strike="noStrike" dirty="0" err="1">
                          <a:solidFill>
                            <a:srgbClr val="4F7CAC"/>
                          </a:solidFill>
                          <a:effectLst/>
                        </a:rPr>
                        <a:t>Skeleton</a:t>
                      </a:r>
                      <a:r>
                        <a:rPr lang="tr-TR" sz="800" u="none" strike="noStrike" dirty="0">
                          <a:solidFill>
                            <a:srgbClr val="4F7CAC"/>
                          </a:solidFill>
                          <a:effectLst/>
                        </a:rPr>
                        <a:t> </a:t>
                      </a:r>
                      <a:r>
                        <a:rPr lang="tr-TR" sz="800" u="none" strike="noStrike" dirty="0" err="1">
                          <a:solidFill>
                            <a:srgbClr val="4F7CAC"/>
                          </a:solidFill>
                          <a:effectLst/>
                        </a:rPr>
                        <a:t>Key</a:t>
                      </a:r>
                      <a:endParaRPr lang="tr-TR" sz="800" dirty="0">
                        <a:effectLst/>
                      </a:endParaRP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800" u="none" strike="noStrike" dirty="0">
                          <a:solidFill>
                            <a:srgbClr val="4F7CAC"/>
                          </a:solidFill>
                          <a:effectLst/>
                        </a:rPr>
                        <a:t>Skeleton Key</a:t>
                      </a:r>
                      <a:r>
                        <a:rPr lang="en-US" sz="800" dirty="0">
                          <a:effectLst/>
                        </a:rPr>
                        <a:t> is used to patch an enterprise domain controller authentication process with a backdoor password. It allows adversaries to bypass the standard authentication system to use a defined password for all accounts authenticating to that domain controller.</a:t>
                      </a:r>
                    </a:p>
                  </a:txBody>
                  <a:tcPr marL="38507" marR="38507" marT="19254" marB="19254">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428931111"/>
                  </a:ext>
                </a:extLst>
              </a:tr>
            </a:tbl>
          </a:graphicData>
        </a:graphic>
      </p:graphicFrame>
      <p:sp>
        <p:nvSpPr>
          <p:cNvPr id="5" name="Rectangle 1">
            <a:extLst>
              <a:ext uri="{FF2B5EF4-FFF2-40B4-BE49-F238E27FC236}">
                <a16:creationId xmlns:a16="http://schemas.microsoft.com/office/drawing/2014/main" id="{D645D871-6280-4C49-91FA-04F674528CF1}"/>
              </a:ext>
            </a:extLst>
          </p:cNvPr>
          <p:cNvSpPr>
            <a:spLocks noChangeArrowheads="1"/>
          </p:cNvSpPr>
          <p:nvPr/>
        </p:nvSpPr>
        <p:spPr bwMode="auto">
          <a:xfrm>
            <a:off x="0" y="67017"/>
            <a:ext cx="184731" cy="323165"/>
          </a:xfrm>
          <a:prstGeom prst="rect">
            <a:avLst/>
          </a:prstGeom>
          <a:solidFill>
            <a:srgbClr val="E6E6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3707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0B02FA-C030-4236-91DA-AD41928961C5}"/>
              </a:ext>
            </a:extLst>
          </p:cNvPr>
          <p:cNvSpPr>
            <a:spLocks noGrp="1"/>
          </p:cNvSpPr>
          <p:nvPr>
            <p:ph type="title"/>
          </p:nvPr>
        </p:nvSpPr>
        <p:spPr>
          <a:xfrm>
            <a:off x="838200" y="365125"/>
            <a:ext cx="10515600" cy="1325563"/>
          </a:xfrm>
        </p:spPr>
        <p:txBody>
          <a:bodyPr/>
          <a:lstStyle/>
          <a:p>
            <a:pPr algn="ctr"/>
            <a:r>
              <a:rPr lang="tr-TR" dirty="0" err="1"/>
              <a:t>Dragonfly</a:t>
            </a:r>
            <a:r>
              <a:rPr lang="tr-TR" dirty="0"/>
              <a:t> 2.0</a:t>
            </a:r>
          </a:p>
        </p:txBody>
      </p:sp>
      <p:sp>
        <p:nvSpPr>
          <p:cNvPr id="3" name="İçerik Yer Tutucusu 2">
            <a:extLst>
              <a:ext uri="{FF2B5EF4-FFF2-40B4-BE49-F238E27FC236}">
                <a16:creationId xmlns:a16="http://schemas.microsoft.com/office/drawing/2014/main" id="{9848AA46-0D40-4AD8-B310-F4AE360A1A44}"/>
              </a:ext>
            </a:extLst>
          </p:cNvPr>
          <p:cNvSpPr>
            <a:spLocks noGrp="1"/>
          </p:cNvSpPr>
          <p:nvPr>
            <p:ph idx="1"/>
          </p:nvPr>
        </p:nvSpPr>
        <p:spPr>
          <a:xfrm>
            <a:off x="838200" y="1825625"/>
            <a:ext cx="6609080" cy="4351338"/>
          </a:xfrm>
        </p:spPr>
        <p:txBody>
          <a:bodyPr/>
          <a:lstStyle/>
          <a:p>
            <a:r>
              <a:rPr lang="en-US" dirty="0"/>
              <a:t>Dragonfly 2.0 is a suspected Russian group that has targeted government entities and multiple U.S. critical infrastructure sectors since at least March 2016.</a:t>
            </a:r>
            <a:endParaRPr lang="tr-TR" dirty="0"/>
          </a:p>
          <a:p>
            <a:endParaRPr lang="tr-TR" dirty="0"/>
          </a:p>
          <a:p>
            <a:r>
              <a:rPr lang="tr-TR" dirty="0" err="1"/>
              <a:t>Some</a:t>
            </a:r>
            <a:r>
              <a:rPr lang="tr-TR" dirty="0"/>
              <a:t> </a:t>
            </a:r>
            <a:r>
              <a:rPr lang="tr-TR" dirty="0" err="1"/>
              <a:t>techniques</a:t>
            </a:r>
            <a:r>
              <a:rPr lang="tr-TR" dirty="0"/>
              <a:t> </a:t>
            </a:r>
            <a:r>
              <a:rPr lang="tr-TR" dirty="0" err="1"/>
              <a:t>that</a:t>
            </a:r>
            <a:r>
              <a:rPr lang="tr-TR" dirty="0"/>
              <a:t> </a:t>
            </a:r>
            <a:r>
              <a:rPr lang="tr-TR" dirty="0" err="1"/>
              <a:t>are</a:t>
            </a:r>
            <a:r>
              <a:rPr lang="tr-TR" dirty="0"/>
              <a:t> </a:t>
            </a:r>
            <a:r>
              <a:rPr lang="tr-TR" dirty="0" err="1"/>
              <a:t>used</a:t>
            </a:r>
            <a:r>
              <a:rPr lang="tr-TR" dirty="0"/>
              <a:t> </a:t>
            </a:r>
            <a:r>
              <a:rPr lang="tr-TR" dirty="0" err="1"/>
              <a:t>are</a:t>
            </a:r>
            <a:r>
              <a:rPr lang="tr-TR" dirty="0"/>
              <a:t> </a:t>
            </a:r>
            <a:r>
              <a:rPr lang="tr-TR" dirty="0" err="1">
                <a:highlight>
                  <a:srgbClr val="FF0000"/>
                </a:highlight>
              </a:rPr>
              <a:t>account</a:t>
            </a:r>
            <a:r>
              <a:rPr lang="tr-TR" dirty="0">
                <a:highlight>
                  <a:srgbClr val="FF0000"/>
                </a:highlight>
              </a:rPr>
              <a:t> </a:t>
            </a:r>
            <a:r>
              <a:rPr lang="tr-TR" dirty="0" err="1">
                <a:highlight>
                  <a:srgbClr val="FF0000"/>
                </a:highlight>
              </a:rPr>
              <a:t>manipulation</a:t>
            </a:r>
            <a:r>
              <a:rPr lang="tr-TR" dirty="0"/>
              <a:t>, </a:t>
            </a:r>
            <a:r>
              <a:rPr lang="tr-TR" dirty="0" err="1">
                <a:highlight>
                  <a:srgbClr val="FF0000"/>
                </a:highlight>
              </a:rPr>
              <a:t>spear</a:t>
            </a:r>
            <a:r>
              <a:rPr lang="tr-TR" dirty="0">
                <a:highlight>
                  <a:srgbClr val="FF0000"/>
                </a:highlight>
              </a:rPr>
              <a:t> </a:t>
            </a:r>
            <a:r>
              <a:rPr lang="tr-TR" dirty="0" err="1">
                <a:highlight>
                  <a:srgbClr val="FF0000"/>
                </a:highlight>
              </a:rPr>
              <a:t>fishing</a:t>
            </a:r>
            <a:r>
              <a:rPr lang="tr-TR" dirty="0"/>
              <a:t>, </a:t>
            </a:r>
            <a:r>
              <a:rPr lang="tr-TR" dirty="0" err="1">
                <a:highlight>
                  <a:srgbClr val="FF0000"/>
                </a:highlight>
              </a:rPr>
              <a:t>brute</a:t>
            </a:r>
            <a:r>
              <a:rPr lang="tr-TR" dirty="0">
                <a:highlight>
                  <a:srgbClr val="FF0000"/>
                </a:highlight>
              </a:rPr>
              <a:t> </a:t>
            </a:r>
            <a:r>
              <a:rPr lang="tr-TR" dirty="0" err="1">
                <a:highlight>
                  <a:srgbClr val="FF0000"/>
                </a:highlight>
              </a:rPr>
              <a:t>force</a:t>
            </a:r>
            <a:r>
              <a:rPr lang="tr-TR" dirty="0"/>
              <a:t>, </a:t>
            </a:r>
            <a:r>
              <a:rPr lang="tr-TR" dirty="0" err="1">
                <a:highlight>
                  <a:srgbClr val="FF0000"/>
                </a:highlight>
              </a:rPr>
              <a:t>create</a:t>
            </a:r>
            <a:r>
              <a:rPr lang="tr-TR" dirty="0">
                <a:highlight>
                  <a:srgbClr val="FF0000"/>
                </a:highlight>
              </a:rPr>
              <a:t> </a:t>
            </a:r>
            <a:r>
              <a:rPr lang="tr-TR" dirty="0" err="1">
                <a:highlight>
                  <a:srgbClr val="FF0000"/>
                </a:highlight>
              </a:rPr>
              <a:t>account</a:t>
            </a:r>
            <a:r>
              <a:rPr lang="tr-TR" dirty="0">
                <a:highlight>
                  <a:srgbClr val="FF0000"/>
                </a:highlight>
              </a:rPr>
              <a:t> </a:t>
            </a:r>
            <a:r>
              <a:rPr lang="tr-TR" dirty="0" err="1"/>
              <a:t>and</a:t>
            </a:r>
            <a:r>
              <a:rPr lang="tr-TR" dirty="0"/>
              <a:t> </a:t>
            </a:r>
            <a:r>
              <a:rPr lang="tr-TR" dirty="0">
                <a:highlight>
                  <a:srgbClr val="FF0000"/>
                </a:highlight>
              </a:rPr>
              <a:t>file </a:t>
            </a:r>
            <a:r>
              <a:rPr lang="tr-TR" dirty="0" err="1">
                <a:highlight>
                  <a:srgbClr val="FF0000"/>
                </a:highlight>
              </a:rPr>
              <a:t>deletion</a:t>
            </a:r>
            <a:r>
              <a:rPr lang="tr-TR" dirty="0"/>
              <a:t>.</a:t>
            </a:r>
          </a:p>
        </p:txBody>
      </p:sp>
      <p:pic>
        <p:nvPicPr>
          <p:cNvPr id="7" name="Resim 6" descr="çizim içeren bir resim&#10;&#10;Açıklama otomatik olarak oluşturuldu">
            <a:extLst>
              <a:ext uri="{FF2B5EF4-FFF2-40B4-BE49-F238E27FC236}">
                <a16:creationId xmlns:a16="http://schemas.microsoft.com/office/drawing/2014/main" id="{73C43523-B0AD-4BE8-9D9C-CDBD2B438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9756" y="2473642"/>
            <a:ext cx="3395644" cy="1910715"/>
          </a:xfrm>
          <a:prstGeom prst="rect">
            <a:avLst/>
          </a:prstGeom>
        </p:spPr>
      </p:pic>
    </p:spTree>
    <p:extLst>
      <p:ext uri="{BB962C8B-B14F-4D97-AF65-F5344CB8AC3E}">
        <p14:creationId xmlns:p14="http://schemas.microsoft.com/office/powerpoint/2010/main" val="271457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E4E9E5-3379-4028-B243-0DE7D138C313}"/>
              </a:ext>
            </a:extLst>
          </p:cNvPr>
          <p:cNvSpPr>
            <a:spLocks noGrp="1"/>
          </p:cNvSpPr>
          <p:nvPr>
            <p:ph type="title"/>
          </p:nvPr>
        </p:nvSpPr>
        <p:spPr>
          <a:xfrm>
            <a:off x="838200" y="365125"/>
            <a:ext cx="10515600" cy="1325563"/>
          </a:xfrm>
        </p:spPr>
        <p:txBody>
          <a:bodyPr/>
          <a:lstStyle/>
          <a:p>
            <a:pPr algn="ctr"/>
            <a:r>
              <a:rPr lang="tr-TR"/>
              <a:t>Dragonfly 2.0</a:t>
            </a:r>
            <a:endParaRPr lang="tr-TR" dirty="0"/>
          </a:p>
        </p:txBody>
      </p:sp>
      <p:pic>
        <p:nvPicPr>
          <p:cNvPr id="5" name="İçerik Yer Tutucusu 4">
            <a:extLst>
              <a:ext uri="{FF2B5EF4-FFF2-40B4-BE49-F238E27FC236}">
                <a16:creationId xmlns:a16="http://schemas.microsoft.com/office/drawing/2014/main" id="{B5FEFF6A-FDB8-4DD1-AC78-F99A4D63DF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54583" y="1539227"/>
            <a:ext cx="4682833" cy="5318773"/>
          </a:xfrm>
        </p:spPr>
      </p:pic>
    </p:spTree>
    <p:extLst>
      <p:ext uri="{BB962C8B-B14F-4D97-AF65-F5344CB8AC3E}">
        <p14:creationId xmlns:p14="http://schemas.microsoft.com/office/powerpoint/2010/main" val="3680782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258A47E-8004-45A3-ACEA-F1AF5992A00E}"/>
              </a:ext>
            </a:extLst>
          </p:cNvPr>
          <p:cNvSpPr>
            <a:spLocks noGrp="1"/>
          </p:cNvSpPr>
          <p:nvPr>
            <p:ph type="title"/>
          </p:nvPr>
        </p:nvSpPr>
        <p:spPr/>
        <p:txBody>
          <a:bodyPr/>
          <a:lstStyle/>
          <a:p>
            <a:pPr algn="ctr"/>
            <a:endParaRPr lang="tr-TR" dirty="0"/>
          </a:p>
        </p:txBody>
      </p:sp>
      <p:pic>
        <p:nvPicPr>
          <p:cNvPr id="5" name="İçerik Yer Tutucusu 4" descr="ekran görüntüsü içeren bir resim&#10;&#10;Açıklama otomatik olarak oluşturuldu">
            <a:extLst>
              <a:ext uri="{FF2B5EF4-FFF2-40B4-BE49-F238E27FC236}">
                <a16:creationId xmlns:a16="http://schemas.microsoft.com/office/drawing/2014/main" id="{17AFD398-075C-4C7B-BBC2-4E8661850C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5685" y="756017"/>
            <a:ext cx="9500629" cy="5345965"/>
          </a:xfrm>
        </p:spPr>
      </p:pic>
    </p:spTree>
    <p:extLst>
      <p:ext uri="{BB962C8B-B14F-4D97-AF65-F5344CB8AC3E}">
        <p14:creationId xmlns:p14="http://schemas.microsoft.com/office/powerpoint/2010/main" val="54660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D23AF2-12C1-4DC1-B785-D7111985F207}"/>
              </a:ext>
            </a:extLst>
          </p:cNvPr>
          <p:cNvSpPr>
            <a:spLocks noGrp="1"/>
          </p:cNvSpPr>
          <p:nvPr>
            <p:ph type="title"/>
          </p:nvPr>
        </p:nvSpPr>
        <p:spPr>
          <a:xfrm>
            <a:off x="481013" y="3752849"/>
            <a:ext cx="3290887" cy="2452687"/>
          </a:xfrm>
        </p:spPr>
        <p:txBody>
          <a:bodyPr anchor="ctr">
            <a:normAutofit/>
          </a:bodyPr>
          <a:lstStyle/>
          <a:p>
            <a:pPr algn="ctr"/>
            <a:r>
              <a:rPr lang="tr-TR" sz="3600" dirty="0"/>
              <a:t>APT3</a:t>
            </a:r>
          </a:p>
        </p:txBody>
      </p:sp>
      <p:pic>
        <p:nvPicPr>
          <p:cNvPr id="5" name="Resim 4" descr="işaret, cadde, bina, gece içeren bir resim&#10;&#10;Açıklama otomatik olarak oluşturuldu">
            <a:extLst>
              <a:ext uri="{FF2B5EF4-FFF2-40B4-BE49-F238E27FC236}">
                <a16:creationId xmlns:a16="http://schemas.microsoft.com/office/drawing/2014/main" id="{29EEBFF2-BC36-414E-B676-0FBFF9163674}"/>
              </a:ext>
            </a:extLst>
          </p:cNvPr>
          <p:cNvPicPr>
            <a:picLocks noChangeAspect="1"/>
          </p:cNvPicPr>
          <p:nvPr/>
        </p:nvPicPr>
        <p:blipFill rotWithShape="1">
          <a:blip r:embed="rId2">
            <a:extLst>
              <a:ext uri="{28A0092B-C50C-407E-A947-70E740481C1C}">
                <a14:useLocalDpi xmlns:a14="http://schemas.microsoft.com/office/drawing/2010/main" val="0"/>
              </a:ext>
            </a:extLst>
          </a:blip>
          <a:srcRect t="9402" b="14511"/>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İçerik Yer Tutucusu 2">
            <a:extLst>
              <a:ext uri="{FF2B5EF4-FFF2-40B4-BE49-F238E27FC236}">
                <a16:creationId xmlns:a16="http://schemas.microsoft.com/office/drawing/2014/main" id="{E684BB95-00CF-445D-B0CB-344BE554F05C}"/>
              </a:ext>
            </a:extLst>
          </p:cNvPr>
          <p:cNvSpPr>
            <a:spLocks noGrp="1"/>
          </p:cNvSpPr>
          <p:nvPr>
            <p:ph idx="1"/>
          </p:nvPr>
        </p:nvSpPr>
        <p:spPr>
          <a:xfrm>
            <a:off x="4223982" y="3752850"/>
            <a:ext cx="7485413" cy="2452687"/>
          </a:xfrm>
        </p:spPr>
        <p:txBody>
          <a:bodyPr anchor="ctr">
            <a:normAutofit/>
          </a:bodyPr>
          <a:lstStyle/>
          <a:p>
            <a:r>
              <a:rPr lang="en-US" sz="1800" dirty="0"/>
              <a:t>APT3 is a China-based D threat group that researchers have attributed to China's Ministry of State Security. This group is responsible for the campaigns known as Operation Clandestine Fox, Operation Clandestine Wolf, and Operation </a:t>
            </a:r>
            <a:r>
              <a:rPr lang="en-US" sz="1800" dirty="0" err="1"/>
              <a:t>ouble</a:t>
            </a:r>
            <a:r>
              <a:rPr lang="en-US" sz="1800" dirty="0"/>
              <a:t> Tap. As of June 2015, the group appears to have shifted from targeting primarily US victims to primarily political organizations in Hong Kong. </a:t>
            </a:r>
            <a:endParaRPr lang="tr-TR" sz="1800" dirty="0"/>
          </a:p>
        </p:txBody>
      </p:sp>
    </p:spTree>
    <p:extLst>
      <p:ext uri="{BB962C8B-B14F-4D97-AF65-F5344CB8AC3E}">
        <p14:creationId xmlns:p14="http://schemas.microsoft.com/office/powerpoint/2010/main" val="3627892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5AAD42F-57BE-4B2A-AFB9-C5671AB21A90}"/>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EF80D0FC-C45B-4109-86BA-949460BA23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65232" y="544802"/>
            <a:ext cx="4061535" cy="5768395"/>
          </a:xfrm>
        </p:spPr>
      </p:pic>
    </p:spTree>
    <p:extLst>
      <p:ext uri="{BB962C8B-B14F-4D97-AF65-F5344CB8AC3E}">
        <p14:creationId xmlns:p14="http://schemas.microsoft.com/office/powerpoint/2010/main" val="744765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B8C7336-7A68-4496-837B-A949D4FD592E}"/>
              </a:ext>
            </a:extLst>
          </p:cNvPr>
          <p:cNvSpPr>
            <a:spLocks noGrp="1"/>
          </p:cNvSpPr>
          <p:nvPr>
            <p:ph type="title"/>
          </p:nvPr>
        </p:nvSpPr>
        <p:spPr/>
        <p:txBody>
          <a:bodyPr/>
          <a:lstStyle/>
          <a:p>
            <a:endParaRPr lang="tr-TR"/>
          </a:p>
        </p:txBody>
      </p:sp>
      <p:pic>
        <p:nvPicPr>
          <p:cNvPr id="5" name="İçerik Yer Tutucusu 4" descr="ekran görüntüsü, harita içeren bir resim&#10;&#10;Açıklama otomatik olarak oluşturuldu">
            <a:extLst>
              <a:ext uri="{FF2B5EF4-FFF2-40B4-BE49-F238E27FC236}">
                <a16:creationId xmlns:a16="http://schemas.microsoft.com/office/drawing/2014/main" id="{49F5F191-04EA-42E1-AA86-86CB99BAA5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1631" y="703818"/>
            <a:ext cx="9808738" cy="5450364"/>
          </a:xfrm>
        </p:spPr>
      </p:pic>
    </p:spTree>
    <p:extLst>
      <p:ext uri="{BB962C8B-B14F-4D97-AF65-F5344CB8AC3E}">
        <p14:creationId xmlns:p14="http://schemas.microsoft.com/office/powerpoint/2010/main" val="713032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9AAC84-52DE-4B38-AB62-2028F3799335}"/>
              </a:ext>
            </a:extLst>
          </p:cNvPr>
          <p:cNvSpPr>
            <a:spLocks noGrp="1"/>
          </p:cNvSpPr>
          <p:nvPr>
            <p:ph type="title"/>
          </p:nvPr>
        </p:nvSpPr>
        <p:spPr/>
        <p:txBody>
          <a:bodyPr/>
          <a:lstStyle/>
          <a:p>
            <a:r>
              <a:rPr lang="tr-TR" dirty="0" err="1"/>
              <a:t>Account</a:t>
            </a:r>
            <a:r>
              <a:rPr lang="tr-TR" dirty="0"/>
              <a:t> </a:t>
            </a:r>
            <a:r>
              <a:rPr lang="tr-TR" dirty="0" err="1"/>
              <a:t>Manipulation</a:t>
            </a:r>
            <a:r>
              <a:rPr lang="tr-TR" dirty="0"/>
              <a:t> </a:t>
            </a:r>
            <a:r>
              <a:rPr lang="tr-TR" dirty="0" err="1"/>
              <a:t>Mitigation</a:t>
            </a:r>
            <a:r>
              <a:rPr lang="tr-TR" dirty="0"/>
              <a:t> </a:t>
            </a:r>
            <a:r>
              <a:rPr lang="tr-TR" dirty="0" err="1"/>
              <a:t>Examples</a:t>
            </a:r>
            <a:endParaRPr lang="tr-TR" dirty="0"/>
          </a:p>
        </p:txBody>
      </p:sp>
      <p:graphicFrame>
        <p:nvGraphicFramePr>
          <p:cNvPr id="4" name="İçerik Yer Tutucusu 3">
            <a:extLst>
              <a:ext uri="{FF2B5EF4-FFF2-40B4-BE49-F238E27FC236}">
                <a16:creationId xmlns:a16="http://schemas.microsoft.com/office/drawing/2014/main" id="{02845BFE-2A0B-4FEE-A847-3EC050769EA9}"/>
              </a:ext>
            </a:extLst>
          </p:cNvPr>
          <p:cNvGraphicFramePr>
            <a:graphicFrameLocks noGrp="1"/>
          </p:cNvGraphicFramePr>
          <p:nvPr>
            <p:ph idx="1"/>
            <p:extLst>
              <p:ext uri="{D42A27DB-BD31-4B8C-83A1-F6EECF244321}">
                <p14:modId xmlns:p14="http://schemas.microsoft.com/office/powerpoint/2010/main" val="1893032942"/>
              </p:ext>
            </p:extLst>
          </p:nvPr>
        </p:nvGraphicFramePr>
        <p:xfrm>
          <a:off x="2548553" y="1645214"/>
          <a:ext cx="7094894" cy="4712160"/>
        </p:xfrm>
        <a:graphic>
          <a:graphicData uri="http://schemas.openxmlformats.org/drawingml/2006/table">
            <a:tbl>
              <a:tblPr/>
              <a:tblGrid>
                <a:gridCol w="3547447">
                  <a:extLst>
                    <a:ext uri="{9D8B030D-6E8A-4147-A177-3AD203B41FA5}">
                      <a16:colId xmlns:a16="http://schemas.microsoft.com/office/drawing/2014/main" val="3644197754"/>
                    </a:ext>
                  </a:extLst>
                </a:gridCol>
                <a:gridCol w="3547447">
                  <a:extLst>
                    <a:ext uri="{9D8B030D-6E8A-4147-A177-3AD203B41FA5}">
                      <a16:colId xmlns:a16="http://schemas.microsoft.com/office/drawing/2014/main" val="1008446222"/>
                    </a:ext>
                  </a:extLst>
                </a:gridCol>
              </a:tblGrid>
              <a:tr h="295006">
                <a:tc>
                  <a:txBody>
                    <a:bodyPr/>
                    <a:lstStyle/>
                    <a:p>
                      <a:pPr algn="l" fontAlgn="b"/>
                      <a:r>
                        <a:rPr lang="tr-TR" sz="1500">
                          <a:effectLst/>
                        </a:rPr>
                        <a:t>Mitigation</a:t>
                      </a:r>
                    </a:p>
                  </a:txBody>
                  <a:tcPr marL="73751" marR="73751" marT="36876" marB="36876"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algn="l" fontAlgn="b"/>
                      <a:r>
                        <a:rPr lang="tr-TR" sz="1500">
                          <a:effectLst/>
                        </a:rPr>
                        <a:t>Description</a:t>
                      </a:r>
                    </a:p>
                  </a:txBody>
                  <a:tcPr marL="73751" marR="73751" marT="36876" marB="36876"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846940368"/>
                  </a:ext>
                </a:extLst>
              </a:tr>
              <a:tr h="516260">
                <a:tc>
                  <a:txBody>
                    <a:bodyPr/>
                    <a:lstStyle/>
                    <a:p>
                      <a:pPr fontAlgn="t"/>
                      <a:r>
                        <a:rPr lang="tr-TR" sz="1500" u="none" strike="noStrike" dirty="0">
                          <a:solidFill>
                            <a:srgbClr val="4F7CAC"/>
                          </a:solidFill>
                          <a:effectLst/>
                        </a:rPr>
                        <a:t>Multi-</a:t>
                      </a:r>
                      <a:r>
                        <a:rPr lang="tr-TR" sz="1500" u="none" strike="noStrike" dirty="0" err="1">
                          <a:solidFill>
                            <a:srgbClr val="4F7CAC"/>
                          </a:solidFill>
                          <a:effectLst/>
                        </a:rPr>
                        <a:t>factor</a:t>
                      </a:r>
                      <a:r>
                        <a:rPr lang="tr-TR" sz="1500" u="none" strike="noStrike" dirty="0">
                          <a:solidFill>
                            <a:srgbClr val="4F7CAC"/>
                          </a:solidFill>
                          <a:effectLst/>
                        </a:rPr>
                        <a:t> </a:t>
                      </a:r>
                      <a:r>
                        <a:rPr lang="tr-TR" sz="1500" u="none" strike="noStrike" dirty="0" err="1">
                          <a:solidFill>
                            <a:srgbClr val="4F7CAC"/>
                          </a:solidFill>
                          <a:effectLst/>
                        </a:rPr>
                        <a:t>Authentication</a:t>
                      </a:r>
                      <a:endParaRPr lang="tr-TR" sz="1500" dirty="0">
                        <a:effectLst/>
                      </a:endParaRP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500" dirty="0">
                          <a:effectLst/>
                        </a:rPr>
                        <a:t>Use multi-factor authentication for user and privileged accounts.</a:t>
                      </a: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709151936"/>
                  </a:ext>
                </a:extLst>
              </a:tr>
              <a:tr h="1401278">
                <a:tc>
                  <a:txBody>
                    <a:bodyPr/>
                    <a:lstStyle/>
                    <a:p>
                      <a:pPr fontAlgn="t"/>
                      <a:r>
                        <a:rPr lang="tr-TR" sz="1500" u="none" strike="noStrike" dirty="0">
                          <a:solidFill>
                            <a:srgbClr val="4F7CAC"/>
                          </a:solidFill>
                          <a:effectLst/>
                        </a:rPr>
                        <a:t>Network </a:t>
                      </a:r>
                      <a:r>
                        <a:rPr lang="tr-TR" sz="1500" u="none" strike="noStrike" dirty="0" err="1">
                          <a:solidFill>
                            <a:srgbClr val="4F7CAC"/>
                          </a:solidFill>
                          <a:effectLst/>
                        </a:rPr>
                        <a:t>Segmentation</a:t>
                      </a:r>
                      <a:endParaRPr lang="tr-TR" sz="1500" dirty="0">
                        <a:effectLst/>
                      </a:endParaRP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500" dirty="0">
                          <a:effectLst/>
                        </a:rPr>
                        <a:t>Configure access controls and firewalls to limit access to critical systems and domain controllers. Most cloud environments support separate virtual private cloud (VPC) instances that enable further segmentation of cloud systems.</a:t>
                      </a: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904653171"/>
                  </a:ext>
                </a:extLst>
              </a:tr>
              <a:tr h="1180024">
                <a:tc>
                  <a:txBody>
                    <a:bodyPr/>
                    <a:lstStyle/>
                    <a:p>
                      <a:pPr fontAlgn="t"/>
                      <a:r>
                        <a:rPr lang="tr-TR" sz="1500" u="none" strike="noStrike" dirty="0">
                          <a:solidFill>
                            <a:srgbClr val="4F7CAC"/>
                          </a:solidFill>
                          <a:effectLst/>
                        </a:rPr>
                        <a:t>Operating </a:t>
                      </a:r>
                      <a:r>
                        <a:rPr lang="tr-TR" sz="1500" u="none" strike="noStrike" dirty="0" err="1">
                          <a:solidFill>
                            <a:srgbClr val="4F7CAC"/>
                          </a:solidFill>
                          <a:effectLst/>
                        </a:rPr>
                        <a:t>System</a:t>
                      </a:r>
                      <a:r>
                        <a:rPr lang="tr-TR" sz="1500" u="none" strike="noStrike" dirty="0">
                          <a:solidFill>
                            <a:srgbClr val="4F7CAC"/>
                          </a:solidFill>
                          <a:effectLst/>
                        </a:rPr>
                        <a:t> </a:t>
                      </a:r>
                      <a:r>
                        <a:rPr lang="tr-TR" sz="1500" u="none" strike="noStrike" dirty="0" err="1">
                          <a:solidFill>
                            <a:srgbClr val="4F7CAC"/>
                          </a:solidFill>
                          <a:effectLst/>
                        </a:rPr>
                        <a:t>Configuration</a:t>
                      </a:r>
                      <a:endParaRPr lang="tr-TR" sz="1500" dirty="0">
                        <a:effectLst/>
                      </a:endParaRP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500" dirty="0">
                          <a:effectLst/>
                        </a:rPr>
                        <a:t>Protect domain controllers by </a:t>
                      </a:r>
                      <a:r>
                        <a:rPr lang="en-US" sz="1500" dirty="0">
                          <a:effectLst/>
                          <a:highlight>
                            <a:srgbClr val="FFFF00"/>
                          </a:highlight>
                        </a:rPr>
                        <a:t>ensuring proper security configuration for critical servers</a:t>
                      </a:r>
                      <a:r>
                        <a:rPr lang="en-US" sz="1500" dirty="0">
                          <a:effectLst/>
                        </a:rPr>
                        <a:t> to limit access by potentially unnecessary protocols and services, such as SMB file sharing.</a:t>
                      </a: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026983916"/>
                  </a:ext>
                </a:extLst>
              </a:tr>
              <a:tr h="958769">
                <a:tc>
                  <a:txBody>
                    <a:bodyPr/>
                    <a:lstStyle/>
                    <a:p>
                      <a:pPr fontAlgn="t"/>
                      <a:r>
                        <a:rPr lang="tr-TR" sz="1500" u="none" strike="noStrike" dirty="0" err="1">
                          <a:solidFill>
                            <a:srgbClr val="4F7CAC"/>
                          </a:solidFill>
                          <a:effectLst/>
                        </a:rPr>
                        <a:t>Privileged</a:t>
                      </a:r>
                      <a:r>
                        <a:rPr lang="tr-TR" sz="1500" u="none" strike="noStrike" dirty="0">
                          <a:solidFill>
                            <a:srgbClr val="4F7CAC"/>
                          </a:solidFill>
                          <a:effectLst/>
                        </a:rPr>
                        <a:t> </a:t>
                      </a:r>
                      <a:r>
                        <a:rPr lang="tr-TR" sz="1500" u="none" strike="noStrike" dirty="0" err="1">
                          <a:solidFill>
                            <a:srgbClr val="4F7CAC"/>
                          </a:solidFill>
                          <a:effectLst/>
                        </a:rPr>
                        <a:t>Account</a:t>
                      </a:r>
                      <a:r>
                        <a:rPr lang="tr-TR" sz="1500" u="none" strike="noStrike" dirty="0">
                          <a:solidFill>
                            <a:srgbClr val="4F7CAC"/>
                          </a:solidFill>
                          <a:effectLst/>
                        </a:rPr>
                        <a:t> Management</a:t>
                      </a:r>
                      <a:endParaRPr lang="tr-TR" sz="1500" dirty="0">
                        <a:effectLst/>
                      </a:endParaRP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500" dirty="0">
                          <a:effectLst/>
                          <a:highlight>
                            <a:srgbClr val="FFFF00"/>
                          </a:highlight>
                        </a:rPr>
                        <a:t>Do not allow domain administrator accounts to be used for day-to-day operations</a:t>
                      </a:r>
                      <a:r>
                        <a:rPr lang="en-US" sz="1500" dirty="0">
                          <a:effectLst/>
                        </a:rPr>
                        <a:t> that may expose them to potential adversaries on unprivileged systems.</a:t>
                      </a:r>
                    </a:p>
                  </a:txBody>
                  <a:tcPr marL="73751" marR="73751" marT="36876" marB="36876">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694146412"/>
                  </a:ext>
                </a:extLst>
              </a:tr>
            </a:tbl>
          </a:graphicData>
        </a:graphic>
      </p:graphicFrame>
    </p:spTree>
    <p:extLst>
      <p:ext uri="{BB962C8B-B14F-4D97-AF65-F5344CB8AC3E}">
        <p14:creationId xmlns:p14="http://schemas.microsoft.com/office/powerpoint/2010/main" val="4044732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B255626-B99A-4E88-87CC-6B2B49656F9A}"/>
              </a:ext>
            </a:extLst>
          </p:cNvPr>
          <p:cNvSpPr>
            <a:spLocks noGrp="1"/>
          </p:cNvSpPr>
          <p:nvPr>
            <p:ph type="title"/>
          </p:nvPr>
        </p:nvSpPr>
        <p:spPr>
          <a:xfrm>
            <a:off x="686834" y="591344"/>
            <a:ext cx="3200400" cy="5585619"/>
          </a:xfrm>
        </p:spPr>
        <p:txBody>
          <a:bodyPr>
            <a:normAutofit/>
          </a:bodyPr>
          <a:lstStyle/>
          <a:p>
            <a:r>
              <a:rPr lang="tr-TR" dirty="0" err="1">
                <a:solidFill>
                  <a:srgbClr val="FFFFFF"/>
                </a:solidFill>
              </a:rPr>
              <a:t>Account</a:t>
            </a:r>
            <a:r>
              <a:rPr lang="tr-TR" dirty="0">
                <a:solidFill>
                  <a:srgbClr val="FFFFFF"/>
                </a:solidFill>
              </a:rPr>
              <a:t> </a:t>
            </a:r>
            <a:r>
              <a:rPr lang="tr-TR" dirty="0" err="1">
                <a:solidFill>
                  <a:srgbClr val="FFFFFF"/>
                </a:solidFill>
              </a:rPr>
              <a:t>Manipulation</a:t>
            </a:r>
            <a:r>
              <a:rPr lang="tr-TR" dirty="0">
                <a:solidFill>
                  <a:srgbClr val="FFFFFF"/>
                </a:solidFill>
              </a:rPr>
              <a:t> </a:t>
            </a:r>
            <a:r>
              <a:rPr lang="tr-TR" dirty="0" err="1">
                <a:solidFill>
                  <a:srgbClr val="FFFFFF"/>
                </a:solidFill>
              </a:rPr>
              <a:t>Detection</a:t>
            </a:r>
            <a:endParaRPr lang="tr-T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A50F9130-5B76-4ABE-89C1-AF59B434A961}"/>
              </a:ext>
            </a:extLst>
          </p:cNvPr>
          <p:cNvSpPr>
            <a:spLocks noGrp="1"/>
          </p:cNvSpPr>
          <p:nvPr>
            <p:ph idx="1"/>
          </p:nvPr>
        </p:nvSpPr>
        <p:spPr>
          <a:xfrm>
            <a:off x="4447308" y="591344"/>
            <a:ext cx="6906491" cy="5585619"/>
          </a:xfrm>
        </p:spPr>
        <p:txBody>
          <a:bodyPr anchor="ctr">
            <a:normAutofit/>
          </a:bodyPr>
          <a:lstStyle/>
          <a:p>
            <a:r>
              <a:rPr lang="en-US" sz="1800" dirty="0">
                <a:highlight>
                  <a:srgbClr val="FFFF00"/>
                </a:highlight>
              </a:rPr>
              <a:t>Collect events that correlate with changes to account objects on systems and the domain</a:t>
            </a:r>
            <a:r>
              <a:rPr lang="en-US" sz="1800" dirty="0"/>
              <a:t>, such as event ID 4738.</a:t>
            </a:r>
            <a:r>
              <a:rPr lang="tr-TR" sz="1800" baseline="30000" dirty="0"/>
              <a:t> </a:t>
            </a:r>
            <a:r>
              <a:rPr lang="en-US" sz="1800" dirty="0">
                <a:highlight>
                  <a:srgbClr val="FF0000"/>
                </a:highlight>
              </a:rPr>
              <a:t>Monitor</a:t>
            </a:r>
            <a:r>
              <a:rPr lang="en-US" sz="1800" dirty="0"/>
              <a:t> for modification of accounts in correlation with other </a:t>
            </a:r>
            <a:r>
              <a:rPr lang="en-US" sz="1800" dirty="0">
                <a:highlight>
                  <a:srgbClr val="FF0000"/>
                </a:highlight>
              </a:rPr>
              <a:t>suspicious activity</a:t>
            </a:r>
            <a:r>
              <a:rPr lang="en-US" sz="1800" dirty="0"/>
              <a:t>. Changes may occur at unusual times or from unusual systems. Especially flag events where the subject and target accounts differ or that </a:t>
            </a:r>
            <a:r>
              <a:rPr lang="en-US" sz="1800" dirty="0">
                <a:highlight>
                  <a:srgbClr val="FF0000"/>
                </a:highlight>
              </a:rPr>
              <a:t>include additional flags such as changing a password without knowledge of the old password</a:t>
            </a:r>
            <a:r>
              <a:rPr lang="en-US" sz="1800" dirty="0"/>
              <a:t>.</a:t>
            </a:r>
          </a:p>
          <a:p>
            <a:r>
              <a:rPr lang="en-US" sz="1800" dirty="0"/>
              <a:t>Use of credentials may also occur at unusual times or to unusual systems or services and may correlate with other suspicious activity.</a:t>
            </a:r>
          </a:p>
          <a:p>
            <a:r>
              <a:rPr lang="en-US" sz="1800" dirty="0"/>
              <a:t>Monitor for unusual Exchange and Office 365 email account permissions changes that may indicate excessively broad permissions being granted to compromised accounts.</a:t>
            </a:r>
          </a:p>
          <a:p>
            <a:r>
              <a:rPr lang="en-US" sz="1800" dirty="0"/>
              <a:t>A larger volume of emails sent from an account than normal and the discovery of similar phishing emails being sent from real accounts within a network may be signs that an account may have been compromised and attempts to leverage access with modified email permissions is occurring.</a:t>
            </a:r>
          </a:p>
          <a:p>
            <a:endParaRPr lang="tr-TR" sz="1800" dirty="0"/>
          </a:p>
        </p:txBody>
      </p:sp>
    </p:spTree>
    <p:extLst>
      <p:ext uri="{BB962C8B-B14F-4D97-AF65-F5344CB8AC3E}">
        <p14:creationId xmlns:p14="http://schemas.microsoft.com/office/powerpoint/2010/main" val="1397581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D2A1E50-CEE5-415E-8A95-231AAC617AB4}"/>
              </a:ext>
            </a:extLst>
          </p:cNvPr>
          <p:cNvSpPr>
            <a:spLocks noGrp="1"/>
          </p:cNvSpPr>
          <p:nvPr>
            <p:ph type="title"/>
          </p:nvPr>
        </p:nvSpPr>
        <p:spPr>
          <a:xfrm>
            <a:off x="686834" y="591344"/>
            <a:ext cx="3200400" cy="5585619"/>
          </a:xfrm>
        </p:spPr>
        <p:txBody>
          <a:bodyPr>
            <a:normAutofit/>
          </a:bodyPr>
          <a:lstStyle/>
          <a:p>
            <a:r>
              <a:rPr lang="tr-TR" dirty="0" err="1">
                <a:solidFill>
                  <a:srgbClr val="FFFFFF"/>
                </a:solidFill>
              </a:rPr>
              <a:t>Create</a:t>
            </a:r>
            <a:r>
              <a:rPr lang="tr-TR" dirty="0">
                <a:solidFill>
                  <a:srgbClr val="FFFFFF"/>
                </a:solidFill>
              </a:rPr>
              <a:t> </a:t>
            </a:r>
            <a:r>
              <a:rPr lang="tr-TR" dirty="0" err="1">
                <a:solidFill>
                  <a:srgbClr val="FFFFFF"/>
                </a:solidFill>
              </a:rPr>
              <a:t>Account</a:t>
            </a:r>
            <a:endParaRPr lang="tr-T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689F12FC-0CB2-46B8-9277-FCD839B48C48}"/>
              </a:ext>
            </a:extLst>
          </p:cNvPr>
          <p:cNvSpPr>
            <a:spLocks noGrp="1"/>
          </p:cNvSpPr>
          <p:nvPr>
            <p:ph idx="1"/>
          </p:nvPr>
        </p:nvSpPr>
        <p:spPr>
          <a:xfrm>
            <a:off x="4447308" y="591344"/>
            <a:ext cx="6906491" cy="5585619"/>
          </a:xfrm>
        </p:spPr>
        <p:txBody>
          <a:bodyPr anchor="ctr">
            <a:normAutofit/>
          </a:bodyPr>
          <a:lstStyle/>
          <a:p>
            <a:r>
              <a:rPr lang="en-US" dirty="0"/>
              <a:t>Adversaries with a sufficient level of access may create that do not require persistent remote </a:t>
            </a:r>
            <a:r>
              <a:rPr lang="en-US" dirty="0" err="1"/>
              <a:t>acce</a:t>
            </a:r>
            <a:r>
              <a:rPr lang="tr-TR" dirty="0" err="1"/>
              <a:t>ss</a:t>
            </a:r>
            <a:r>
              <a:rPr lang="en-US" dirty="0"/>
              <a:t> local system, domain, or cloud tenant account. Such accounts may be used for persistence ss tools to be deployed on the system.</a:t>
            </a:r>
          </a:p>
          <a:p>
            <a:r>
              <a:rPr lang="en-US" dirty="0"/>
              <a:t>In cloud environments, adversaries </a:t>
            </a:r>
            <a:r>
              <a:rPr lang="en-US" dirty="0">
                <a:highlight>
                  <a:srgbClr val="FF0000"/>
                </a:highlight>
              </a:rPr>
              <a:t>may create accounts that only have access to specific services</a:t>
            </a:r>
            <a:r>
              <a:rPr lang="en-US" dirty="0"/>
              <a:t>, which can reduce the chance of detection.</a:t>
            </a:r>
          </a:p>
          <a:p>
            <a:endParaRPr lang="tr-TR" dirty="0"/>
          </a:p>
        </p:txBody>
      </p:sp>
    </p:spTree>
    <p:extLst>
      <p:ext uri="{BB962C8B-B14F-4D97-AF65-F5344CB8AC3E}">
        <p14:creationId xmlns:p14="http://schemas.microsoft.com/office/powerpoint/2010/main" val="2503240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85965B-4898-4C16-9E9B-DF46CB76C18A}"/>
              </a:ext>
            </a:extLst>
          </p:cNvPr>
          <p:cNvSpPr>
            <a:spLocks noGrp="1"/>
          </p:cNvSpPr>
          <p:nvPr>
            <p:ph type="title"/>
          </p:nvPr>
        </p:nvSpPr>
        <p:spPr>
          <a:xfrm>
            <a:off x="838200" y="365125"/>
            <a:ext cx="10515600" cy="1325563"/>
          </a:xfrm>
        </p:spPr>
        <p:txBody>
          <a:bodyPr/>
          <a:lstStyle/>
          <a:p>
            <a:pPr algn="ctr"/>
            <a:r>
              <a:rPr lang="tr-TR" dirty="0" err="1"/>
              <a:t>Create</a:t>
            </a:r>
            <a:r>
              <a:rPr lang="tr-TR" dirty="0"/>
              <a:t> </a:t>
            </a:r>
            <a:r>
              <a:rPr lang="tr-TR" dirty="0" err="1"/>
              <a:t>Account</a:t>
            </a:r>
            <a:r>
              <a:rPr lang="tr-TR" dirty="0"/>
              <a:t> </a:t>
            </a:r>
            <a:r>
              <a:rPr lang="tr-TR" dirty="0" err="1"/>
              <a:t>Procedure</a:t>
            </a:r>
            <a:r>
              <a:rPr lang="tr-TR" dirty="0"/>
              <a:t> </a:t>
            </a:r>
            <a:r>
              <a:rPr lang="tr-TR" dirty="0" err="1"/>
              <a:t>Examples</a:t>
            </a:r>
            <a:endParaRPr lang="tr-TR" dirty="0"/>
          </a:p>
        </p:txBody>
      </p:sp>
      <p:graphicFrame>
        <p:nvGraphicFramePr>
          <p:cNvPr id="10" name="İçerik Yer Tutucusu 9">
            <a:extLst>
              <a:ext uri="{FF2B5EF4-FFF2-40B4-BE49-F238E27FC236}">
                <a16:creationId xmlns:a16="http://schemas.microsoft.com/office/drawing/2014/main" id="{EDC72D3D-1B29-4D6F-BD36-F103049C4A53}"/>
              </a:ext>
            </a:extLst>
          </p:cNvPr>
          <p:cNvGraphicFramePr>
            <a:graphicFrameLocks noGrp="1"/>
          </p:cNvGraphicFramePr>
          <p:nvPr>
            <p:ph idx="1"/>
            <p:extLst>
              <p:ext uri="{D42A27DB-BD31-4B8C-83A1-F6EECF244321}">
                <p14:modId xmlns:p14="http://schemas.microsoft.com/office/powerpoint/2010/main" val="1911428933"/>
              </p:ext>
            </p:extLst>
          </p:nvPr>
        </p:nvGraphicFramePr>
        <p:xfrm>
          <a:off x="3189064" y="1809092"/>
          <a:ext cx="5813872" cy="4384404"/>
        </p:xfrm>
        <a:graphic>
          <a:graphicData uri="http://schemas.openxmlformats.org/drawingml/2006/table">
            <a:tbl>
              <a:tblPr/>
              <a:tblGrid>
                <a:gridCol w="2906936">
                  <a:extLst>
                    <a:ext uri="{9D8B030D-6E8A-4147-A177-3AD203B41FA5}">
                      <a16:colId xmlns:a16="http://schemas.microsoft.com/office/drawing/2014/main" val="2184217598"/>
                    </a:ext>
                  </a:extLst>
                </a:gridCol>
                <a:gridCol w="2906936">
                  <a:extLst>
                    <a:ext uri="{9D8B030D-6E8A-4147-A177-3AD203B41FA5}">
                      <a16:colId xmlns:a16="http://schemas.microsoft.com/office/drawing/2014/main" val="316124798"/>
                    </a:ext>
                  </a:extLst>
                </a:gridCol>
              </a:tblGrid>
              <a:tr h="241741">
                <a:tc>
                  <a:txBody>
                    <a:bodyPr/>
                    <a:lstStyle/>
                    <a:p>
                      <a:pPr algn="l" fontAlgn="b"/>
                      <a:r>
                        <a:rPr lang="tr-TR" sz="1200">
                          <a:effectLst/>
                        </a:rPr>
                        <a:t>Name</a:t>
                      </a:r>
                    </a:p>
                  </a:txBody>
                  <a:tcPr marL="60435" marR="60435" marT="30218" marB="30218"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algn="l" fontAlgn="b"/>
                      <a:r>
                        <a:rPr lang="tr-TR" sz="1200">
                          <a:effectLst/>
                        </a:rPr>
                        <a:t>Description</a:t>
                      </a:r>
                    </a:p>
                  </a:txBody>
                  <a:tcPr marL="60435" marR="60435" marT="30218" marB="30218"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722918090"/>
                  </a:ext>
                </a:extLst>
              </a:tr>
              <a:tr h="423047">
                <a:tc>
                  <a:txBody>
                    <a:bodyPr/>
                    <a:lstStyle/>
                    <a:p>
                      <a:pPr fontAlgn="t"/>
                      <a:r>
                        <a:rPr lang="tr-TR" sz="1200" u="none" strike="noStrike" dirty="0">
                          <a:solidFill>
                            <a:srgbClr val="4F7CAC"/>
                          </a:solidFill>
                          <a:effectLst/>
                        </a:rPr>
                        <a:t>APT3</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APT3</a:t>
                      </a:r>
                      <a:r>
                        <a:rPr lang="en-US" sz="1200" dirty="0">
                          <a:effectLst/>
                        </a:rPr>
                        <a:t> has been known to create or enable accounts, such as support_388945a0.</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427353073"/>
                  </a:ext>
                </a:extLst>
              </a:tr>
              <a:tr h="423047">
                <a:tc>
                  <a:txBody>
                    <a:bodyPr/>
                    <a:lstStyle/>
                    <a:p>
                      <a:pPr fontAlgn="t"/>
                      <a:r>
                        <a:rPr lang="tr-TR" sz="1200" u="none" strike="noStrike" dirty="0">
                          <a:solidFill>
                            <a:srgbClr val="4F7CAC"/>
                          </a:solidFill>
                          <a:effectLst/>
                        </a:rPr>
                        <a:t>APT41</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APT41</a:t>
                      </a:r>
                      <a:r>
                        <a:rPr lang="en-US" sz="1200" dirty="0">
                          <a:effectLst/>
                        </a:rPr>
                        <a:t> created user accounts and </a:t>
                      </a:r>
                      <a:r>
                        <a:rPr lang="en-US" sz="1200" dirty="0">
                          <a:effectLst/>
                          <a:highlight>
                            <a:srgbClr val="FF0000"/>
                          </a:highlight>
                        </a:rPr>
                        <a:t>adds them to the User and Admin groups. </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011345346"/>
                  </a:ext>
                </a:extLst>
              </a:tr>
              <a:tr h="423047">
                <a:tc>
                  <a:txBody>
                    <a:bodyPr/>
                    <a:lstStyle/>
                    <a:p>
                      <a:pPr fontAlgn="t"/>
                      <a:r>
                        <a:rPr lang="tr-TR" sz="1200" u="none" strike="noStrike" dirty="0" err="1">
                          <a:solidFill>
                            <a:srgbClr val="4F7CAC"/>
                          </a:solidFill>
                          <a:effectLst/>
                        </a:rPr>
                        <a:t>Calisto</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Calisto</a:t>
                      </a:r>
                      <a:r>
                        <a:rPr lang="en-US" sz="1200" dirty="0">
                          <a:effectLst/>
                        </a:rPr>
                        <a:t> has the capability to add its own account to the victim's machine.</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4103070866"/>
                  </a:ext>
                </a:extLst>
              </a:tr>
              <a:tr h="241741">
                <a:tc>
                  <a:txBody>
                    <a:bodyPr/>
                    <a:lstStyle/>
                    <a:p>
                      <a:pPr fontAlgn="t"/>
                      <a:r>
                        <a:rPr lang="tr-TR" sz="1200" u="none" strike="noStrike" dirty="0" err="1">
                          <a:solidFill>
                            <a:srgbClr val="4F7CAC"/>
                          </a:solidFill>
                          <a:effectLst/>
                        </a:rPr>
                        <a:t>Carbanak</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err="1">
                          <a:solidFill>
                            <a:srgbClr val="4F7CAC"/>
                          </a:solidFill>
                          <a:effectLst/>
                        </a:rPr>
                        <a:t>Carbanak</a:t>
                      </a:r>
                      <a:r>
                        <a:rPr lang="en-US" sz="1200" dirty="0">
                          <a:effectLst/>
                        </a:rPr>
                        <a:t> can create a Windows account.</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529313222"/>
                  </a:ext>
                </a:extLst>
              </a:tr>
              <a:tr h="785658">
                <a:tc>
                  <a:txBody>
                    <a:bodyPr/>
                    <a:lstStyle/>
                    <a:p>
                      <a:pPr fontAlgn="t"/>
                      <a:r>
                        <a:rPr lang="tr-TR" sz="1200" u="none" strike="noStrike" dirty="0" err="1">
                          <a:solidFill>
                            <a:srgbClr val="4F7CAC"/>
                          </a:solidFill>
                          <a:effectLst/>
                        </a:rPr>
                        <a:t>Dragonfly</a:t>
                      </a:r>
                      <a:r>
                        <a:rPr lang="tr-TR" sz="1200" u="none" strike="noStrike" dirty="0">
                          <a:solidFill>
                            <a:srgbClr val="4F7CAC"/>
                          </a:solidFill>
                          <a:effectLst/>
                        </a:rPr>
                        <a:t> 2.0</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Dragonfly 2.0</a:t>
                      </a:r>
                      <a:r>
                        <a:rPr lang="en-US" sz="1200" dirty="0">
                          <a:effectLst/>
                        </a:rPr>
                        <a:t> created accounts on victims, including administrator accounts, some of which appeared to be tailored to each individual staging target.</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30620253"/>
                  </a:ext>
                </a:extLst>
              </a:tr>
              <a:tr h="604352">
                <a:tc>
                  <a:txBody>
                    <a:bodyPr/>
                    <a:lstStyle/>
                    <a:p>
                      <a:pPr fontAlgn="t"/>
                      <a:r>
                        <a:rPr lang="tr-TR" sz="1200" u="none" strike="noStrike" dirty="0" err="1">
                          <a:solidFill>
                            <a:srgbClr val="4F7CAC"/>
                          </a:solidFill>
                          <a:effectLst/>
                        </a:rPr>
                        <a:t>Empire</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Empire</a:t>
                      </a:r>
                      <a:r>
                        <a:rPr lang="en-US" sz="1200" dirty="0">
                          <a:effectLst/>
                        </a:rPr>
                        <a:t> has a module for creating a new domain user or local user if permissions allow.</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772522971"/>
                  </a:ext>
                </a:extLst>
              </a:tr>
              <a:tr h="604352">
                <a:tc>
                  <a:txBody>
                    <a:bodyPr/>
                    <a:lstStyle/>
                    <a:p>
                      <a:pPr fontAlgn="t"/>
                      <a:r>
                        <a:rPr lang="tr-TR" sz="1200" u="none" strike="noStrike" dirty="0" err="1">
                          <a:solidFill>
                            <a:srgbClr val="4F7CAC"/>
                          </a:solidFill>
                          <a:effectLst/>
                        </a:rPr>
                        <a:t>Flame</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Flame</a:t>
                      </a:r>
                      <a:r>
                        <a:rPr lang="en-US" sz="1200" dirty="0">
                          <a:effectLst/>
                        </a:rPr>
                        <a:t> can </a:t>
                      </a:r>
                      <a:r>
                        <a:rPr lang="en-US" sz="1200" dirty="0">
                          <a:effectLst/>
                          <a:highlight>
                            <a:srgbClr val="FF0000"/>
                          </a:highlight>
                        </a:rPr>
                        <a:t>create backdoor accounts with the login "</a:t>
                      </a:r>
                      <a:r>
                        <a:rPr lang="en-US" sz="1200" dirty="0" err="1">
                          <a:effectLst/>
                          <a:highlight>
                            <a:srgbClr val="FF0000"/>
                          </a:highlight>
                        </a:rPr>
                        <a:t>HelpAssistant</a:t>
                      </a:r>
                      <a:r>
                        <a:rPr lang="en-US" sz="1200" dirty="0">
                          <a:effectLst/>
                          <a:highlight>
                            <a:srgbClr val="FF0000"/>
                          </a:highlight>
                        </a:rPr>
                        <a:t>" </a:t>
                      </a:r>
                      <a:r>
                        <a:rPr lang="en-US" sz="1200" dirty="0">
                          <a:effectLst/>
                        </a:rPr>
                        <a:t>with the Limbo module.</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131938076"/>
                  </a:ext>
                </a:extLst>
              </a:tr>
              <a:tr h="604352">
                <a:tc>
                  <a:txBody>
                    <a:bodyPr/>
                    <a:lstStyle/>
                    <a:p>
                      <a:pPr fontAlgn="t"/>
                      <a:r>
                        <a:rPr lang="tr-TR" sz="1200" u="none" strike="noStrike" dirty="0" err="1">
                          <a:solidFill>
                            <a:srgbClr val="4F7CAC"/>
                          </a:solidFill>
                          <a:effectLst/>
                        </a:rPr>
                        <a:t>HiddenWasp</a:t>
                      </a:r>
                      <a:endParaRPr lang="tr-TR" sz="1200" dirty="0">
                        <a:effectLst/>
                      </a:endParaRP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1200" u="none" strike="noStrike" dirty="0">
                          <a:solidFill>
                            <a:srgbClr val="4F7CAC"/>
                          </a:solidFill>
                          <a:effectLst/>
                        </a:rPr>
                        <a:t>Hidden</a:t>
                      </a:r>
                      <a:r>
                        <a:rPr lang="tr-TR" sz="1200" u="none" strike="noStrike" dirty="0">
                          <a:solidFill>
                            <a:srgbClr val="4F7CAC"/>
                          </a:solidFill>
                          <a:effectLst/>
                        </a:rPr>
                        <a:t> </a:t>
                      </a:r>
                      <a:r>
                        <a:rPr lang="en-US" sz="1200" u="none" strike="noStrike" dirty="0">
                          <a:solidFill>
                            <a:srgbClr val="4F7CAC"/>
                          </a:solidFill>
                          <a:effectLst/>
                        </a:rPr>
                        <a:t>Wasp</a:t>
                      </a:r>
                      <a:r>
                        <a:rPr lang="en-US" sz="1200" dirty="0">
                          <a:effectLst/>
                        </a:rPr>
                        <a:t> creates a user account as a means to provide initial persistence to the compromised machine.</a:t>
                      </a:r>
                    </a:p>
                  </a:txBody>
                  <a:tcPr marL="60435" marR="60435" marT="30218" marB="30218">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540239362"/>
                  </a:ext>
                </a:extLst>
              </a:tr>
            </a:tbl>
          </a:graphicData>
        </a:graphic>
      </p:graphicFrame>
    </p:spTree>
    <p:extLst>
      <p:ext uri="{BB962C8B-B14F-4D97-AF65-F5344CB8AC3E}">
        <p14:creationId xmlns:p14="http://schemas.microsoft.com/office/powerpoint/2010/main" val="1287206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AF53B9-67EB-42A8-A233-4778121D504F}"/>
              </a:ext>
            </a:extLst>
          </p:cNvPr>
          <p:cNvSpPr>
            <a:spLocks noGrp="1"/>
          </p:cNvSpPr>
          <p:nvPr>
            <p:ph type="title"/>
          </p:nvPr>
        </p:nvSpPr>
        <p:spPr/>
        <p:txBody>
          <a:bodyPr/>
          <a:lstStyle/>
          <a:p>
            <a:pPr algn="ctr"/>
            <a:r>
              <a:rPr lang="tr-TR" dirty="0" err="1"/>
              <a:t>Create</a:t>
            </a:r>
            <a:r>
              <a:rPr lang="tr-TR" dirty="0"/>
              <a:t> </a:t>
            </a:r>
            <a:r>
              <a:rPr lang="tr-TR" dirty="0" err="1"/>
              <a:t>Account</a:t>
            </a:r>
            <a:r>
              <a:rPr lang="tr-TR" dirty="0"/>
              <a:t>  </a:t>
            </a:r>
            <a:r>
              <a:rPr lang="tr-TR" dirty="0" err="1"/>
              <a:t>Mitigations</a:t>
            </a:r>
            <a:endParaRPr lang="tr-TR" dirty="0"/>
          </a:p>
        </p:txBody>
      </p:sp>
      <p:graphicFrame>
        <p:nvGraphicFramePr>
          <p:cNvPr id="4" name="İçerik Yer Tutucusu 3">
            <a:extLst>
              <a:ext uri="{FF2B5EF4-FFF2-40B4-BE49-F238E27FC236}">
                <a16:creationId xmlns:a16="http://schemas.microsoft.com/office/drawing/2014/main" id="{868DA9CF-B987-4A49-904D-C884C3B962CB}"/>
              </a:ext>
            </a:extLst>
          </p:cNvPr>
          <p:cNvGraphicFramePr>
            <a:graphicFrameLocks noGrp="1"/>
          </p:cNvGraphicFramePr>
          <p:nvPr>
            <p:ph idx="1"/>
            <p:extLst>
              <p:ext uri="{D42A27DB-BD31-4B8C-83A1-F6EECF244321}">
                <p14:modId xmlns:p14="http://schemas.microsoft.com/office/powerpoint/2010/main" val="480419771"/>
              </p:ext>
            </p:extLst>
          </p:nvPr>
        </p:nvGraphicFramePr>
        <p:xfrm>
          <a:off x="1697736" y="1852454"/>
          <a:ext cx="8796528" cy="4297680"/>
        </p:xfrm>
        <a:graphic>
          <a:graphicData uri="http://schemas.openxmlformats.org/drawingml/2006/table">
            <a:tbl>
              <a:tblPr/>
              <a:tblGrid>
                <a:gridCol w="4398264">
                  <a:extLst>
                    <a:ext uri="{9D8B030D-6E8A-4147-A177-3AD203B41FA5}">
                      <a16:colId xmlns:a16="http://schemas.microsoft.com/office/drawing/2014/main" val="3329964408"/>
                    </a:ext>
                  </a:extLst>
                </a:gridCol>
                <a:gridCol w="4398264">
                  <a:extLst>
                    <a:ext uri="{9D8B030D-6E8A-4147-A177-3AD203B41FA5}">
                      <a16:colId xmlns:a16="http://schemas.microsoft.com/office/drawing/2014/main" val="2071905516"/>
                    </a:ext>
                  </a:extLst>
                </a:gridCol>
              </a:tblGrid>
              <a:tr h="0">
                <a:tc>
                  <a:txBody>
                    <a:bodyPr/>
                    <a:lstStyle/>
                    <a:p>
                      <a:pPr algn="l" fontAlgn="b"/>
                      <a:r>
                        <a:rPr lang="tr-TR">
                          <a:effectLst/>
                        </a:rPr>
                        <a:t>Mitigation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algn="l" fontAlgn="b"/>
                      <a:r>
                        <a:rPr lang="tr-TR">
                          <a:effectLst/>
                        </a:rPr>
                        <a:t>Description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306922399"/>
                  </a:ext>
                </a:extLst>
              </a:tr>
              <a:tr h="0">
                <a:tc>
                  <a:txBody>
                    <a:bodyPr/>
                    <a:lstStyle/>
                    <a:p>
                      <a:pPr fontAlgn="t"/>
                      <a:r>
                        <a:rPr lang="tr-TR" u="none" strike="noStrike" dirty="0">
                          <a:solidFill>
                            <a:srgbClr val="4F7CAC"/>
                          </a:solidFill>
                          <a:effectLst/>
                        </a:rPr>
                        <a:t>Multi-</a:t>
                      </a:r>
                      <a:r>
                        <a:rPr lang="tr-TR" u="none" strike="noStrike" dirty="0" err="1">
                          <a:solidFill>
                            <a:srgbClr val="4F7CAC"/>
                          </a:solidFill>
                          <a:effectLst/>
                        </a:rPr>
                        <a:t>factor</a:t>
                      </a:r>
                      <a:r>
                        <a:rPr lang="tr-TR" u="none" strike="noStrike" dirty="0">
                          <a:solidFill>
                            <a:srgbClr val="4F7CAC"/>
                          </a:solidFill>
                          <a:effectLst/>
                        </a:rPr>
                        <a:t> </a:t>
                      </a:r>
                      <a:r>
                        <a:rPr lang="tr-TR" u="none" strike="noStrike" dirty="0" err="1">
                          <a:solidFill>
                            <a:srgbClr val="4F7CAC"/>
                          </a:solidFill>
                          <a:effectLst/>
                        </a:rPr>
                        <a:t>Authentication</a:t>
                      </a:r>
                      <a:endParaRPr lang="tr-TR" dirty="0">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dirty="0">
                          <a:effectLst/>
                        </a:rPr>
                        <a:t>Use </a:t>
                      </a:r>
                      <a:r>
                        <a:rPr lang="en-US" dirty="0">
                          <a:effectLst/>
                          <a:highlight>
                            <a:srgbClr val="FFFF00"/>
                          </a:highlight>
                        </a:rPr>
                        <a:t>multi-factor authentication for user and privileged accounts</a:t>
                      </a:r>
                      <a:r>
                        <a:rPr lang="en-US" dirty="0">
                          <a:effectLst/>
                        </a:rPr>
                        <a: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845243762"/>
                  </a:ext>
                </a:extLst>
              </a:tr>
              <a:tr h="0">
                <a:tc>
                  <a:txBody>
                    <a:bodyPr/>
                    <a:lstStyle/>
                    <a:p>
                      <a:pPr fontAlgn="t"/>
                      <a:r>
                        <a:rPr lang="tr-TR" u="none" strike="noStrike" dirty="0">
                          <a:solidFill>
                            <a:srgbClr val="4F7CAC"/>
                          </a:solidFill>
                          <a:effectLst/>
                        </a:rPr>
                        <a:t>Network </a:t>
                      </a:r>
                      <a:r>
                        <a:rPr lang="tr-TR" u="none" strike="noStrike" dirty="0" err="1">
                          <a:solidFill>
                            <a:srgbClr val="4F7CAC"/>
                          </a:solidFill>
                          <a:effectLst/>
                        </a:rPr>
                        <a:t>Segmentation</a:t>
                      </a:r>
                      <a:endParaRPr lang="tr-TR" dirty="0">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a:effectLst/>
                        </a:rPr>
                        <a:t>Configure access controls and firewalls to limit access to domain controllers and systems used to create and manage accounts.</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337265055"/>
                  </a:ext>
                </a:extLst>
              </a:tr>
              <a:tr h="0">
                <a:tc>
                  <a:txBody>
                    <a:bodyPr/>
                    <a:lstStyle/>
                    <a:p>
                      <a:pPr fontAlgn="t"/>
                      <a:r>
                        <a:rPr lang="tr-TR" u="none" strike="noStrike" dirty="0">
                          <a:solidFill>
                            <a:srgbClr val="4F7CAC"/>
                          </a:solidFill>
                          <a:effectLst/>
                        </a:rPr>
                        <a:t>Operating </a:t>
                      </a:r>
                      <a:r>
                        <a:rPr lang="tr-TR" u="none" strike="noStrike" dirty="0" err="1">
                          <a:solidFill>
                            <a:srgbClr val="4F7CAC"/>
                          </a:solidFill>
                          <a:effectLst/>
                        </a:rPr>
                        <a:t>System</a:t>
                      </a:r>
                      <a:r>
                        <a:rPr lang="tr-TR" u="none" strike="noStrike" dirty="0">
                          <a:solidFill>
                            <a:srgbClr val="4F7CAC"/>
                          </a:solidFill>
                          <a:effectLst/>
                        </a:rPr>
                        <a:t> </a:t>
                      </a:r>
                      <a:r>
                        <a:rPr lang="tr-TR" u="none" strike="noStrike" dirty="0" err="1">
                          <a:solidFill>
                            <a:srgbClr val="4F7CAC"/>
                          </a:solidFill>
                          <a:effectLst/>
                        </a:rPr>
                        <a:t>Configuration</a:t>
                      </a:r>
                      <a:endParaRPr lang="tr-TR" dirty="0">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dirty="0">
                          <a:effectLst/>
                        </a:rPr>
                        <a:t>Protect domain controllers by ensuring </a:t>
                      </a:r>
                      <a:r>
                        <a:rPr lang="en-US" dirty="0">
                          <a:effectLst/>
                          <a:highlight>
                            <a:srgbClr val="FFFF00"/>
                          </a:highlight>
                        </a:rPr>
                        <a:t>proper security configuration for critical servers</a:t>
                      </a:r>
                      <a:r>
                        <a:rPr lang="en-US" dirty="0">
                          <a:effectLst/>
                        </a:rPr>
                        <a: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381408351"/>
                  </a:ext>
                </a:extLst>
              </a:tr>
              <a:tr h="0">
                <a:tc>
                  <a:txBody>
                    <a:bodyPr/>
                    <a:lstStyle/>
                    <a:p>
                      <a:pPr fontAlgn="t"/>
                      <a:r>
                        <a:rPr lang="tr-TR" u="none" strike="noStrike" dirty="0" err="1">
                          <a:solidFill>
                            <a:srgbClr val="4F7CAC"/>
                          </a:solidFill>
                          <a:effectLst/>
                        </a:rPr>
                        <a:t>Privileged</a:t>
                      </a:r>
                      <a:r>
                        <a:rPr lang="tr-TR" u="none" strike="noStrike" dirty="0">
                          <a:solidFill>
                            <a:srgbClr val="4F7CAC"/>
                          </a:solidFill>
                          <a:effectLst/>
                        </a:rPr>
                        <a:t> </a:t>
                      </a:r>
                      <a:r>
                        <a:rPr lang="tr-TR" u="none" strike="noStrike" dirty="0" err="1">
                          <a:solidFill>
                            <a:srgbClr val="4F7CAC"/>
                          </a:solidFill>
                          <a:effectLst/>
                        </a:rPr>
                        <a:t>Account</a:t>
                      </a:r>
                      <a:r>
                        <a:rPr lang="tr-TR" u="none" strike="noStrike" dirty="0">
                          <a:solidFill>
                            <a:srgbClr val="4F7CAC"/>
                          </a:solidFill>
                          <a:effectLst/>
                        </a:rPr>
                        <a:t> Management</a:t>
                      </a:r>
                      <a:endParaRPr lang="tr-TR" dirty="0">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dirty="0">
                          <a:effectLst/>
                        </a:rPr>
                        <a:t>Do not allow domain administrator accounts to be used for day-to-day operations that may expose them to potential adversaries on unprivileged systems.</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030118744"/>
                  </a:ext>
                </a:extLst>
              </a:tr>
            </a:tbl>
          </a:graphicData>
        </a:graphic>
      </p:graphicFrame>
    </p:spTree>
    <p:extLst>
      <p:ext uri="{BB962C8B-B14F-4D97-AF65-F5344CB8AC3E}">
        <p14:creationId xmlns:p14="http://schemas.microsoft.com/office/powerpoint/2010/main" val="2595938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a:extLst>
              <a:ext uri="{FF2B5EF4-FFF2-40B4-BE49-F238E27FC236}">
                <a16:creationId xmlns:a16="http://schemas.microsoft.com/office/drawing/2014/main" id="{A24CC022-4B83-4277-BCEB-48BFE3206503}"/>
              </a:ext>
            </a:extLst>
          </p:cNvPr>
          <p:cNvSpPr>
            <a:spLocks noGrp="1"/>
          </p:cNvSpPr>
          <p:nvPr>
            <p:ph type="title"/>
          </p:nvPr>
        </p:nvSpPr>
        <p:spPr/>
        <p:txBody>
          <a:bodyPr/>
          <a:lstStyle/>
          <a:p>
            <a:pPr algn="ctr"/>
            <a:r>
              <a:rPr lang="tr-TR" dirty="0"/>
              <a:t>Multi </a:t>
            </a:r>
            <a:r>
              <a:rPr lang="tr-TR" dirty="0" err="1"/>
              <a:t>Factor</a:t>
            </a:r>
            <a:r>
              <a:rPr lang="tr-TR" dirty="0"/>
              <a:t> </a:t>
            </a:r>
            <a:r>
              <a:rPr lang="tr-TR" dirty="0" err="1"/>
              <a:t>Authentication</a:t>
            </a:r>
            <a:endParaRPr lang="tr-TR" dirty="0"/>
          </a:p>
        </p:txBody>
      </p:sp>
      <p:pic>
        <p:nvPicPr>
          <p:cNvPr id="5" name="İçerik Yer Tutucusu 4" descr="saat içeren bir resim&#10;&#10;Açıklama otomatik olarak oluşturuldu">
            <a:extLst>
              <a:ext uri="{FF2B5EF4-FFF2-40B4-BE49-F238E27FC236}">
                <a16:creationId xmlns:a16="http://schemas.microsoft.com/office/drawing/2014/main" id="{00441E35-1AE5-4F38-96D3-A82DF3926C4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18067" y="1825625"/>
            <a:ext cx="4221866" cy="4351338"/>
          </a:xfrm>
        </p:spPr>
      </p:pic>
      <p:sp>
        <p:nvSpPr>
          <p:cNvPr id="7" name="İçerik Yer Tutucusu 6">
            <a:extLst>
              <a:ext uri="{FF2B5EF4-FFF2-40B4-BE49-F238E27FC236}">
                <a16:creationId xmlns:a16="http://schemas.microsoft.com/office/drawing/2014/main" id="{7DE5FE3F-C3B0-4A56-AB41-03E54EECB4E4}"/>
              </a:ext>
            </a:extLst>
          </p:cNvPr>
          <p:cNvSpPr>
            <a:spLocks noGrp="1"/>
          </p:cNvSpPr>
          <p:nvPr>
            <p:ph sz="half" idx="2"/>
          </p:nvPr>
        </p:nvSpPr>
        <p:spPr/>
        <p:txBody>
          <a:bodyPr/>
          <a:lstStyle/>
          <a:p>
            <a:r>
              <a:rPr lang="en-US" b="1" dirty="0"/>
              <a:t>Multi-factor authentication</a:t>
            </a:r>
            <a:r>
              <a:rPr lang="en-US" dirty="0"/>
              <a:t> is an authentication method in which a computer user is granted access only after successfully presenting two or more pieces of evidence (or factors) to</a:t>
            </a:r>
            <a:r>
              <a:rPr lang="tr-TR" dirty="0"/>
              <a:t> </a:t>
            </a:r>
            <a:r>
              <a:rPr lang="en-US" dirty="0"/>
              <a:t>an authentication mechanism</a:t>
            </a:r>
            <a:endParaRPr lang="tr-TR" dirty="0"/>
          </a:p>
        </p:txBody>
      </p:sp>
    </p:spTree>
    <p:extLst>
      <p:ext uri="{BB962C8B-B14F-4D97-AF65-F5344CB8AC3E}">
        <p14:creationId xmlns:p14="http://schemas.microsoft.com/office/powerpoint/2010/main" val="3817667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6421531-D8E5-4BF2-93E9-209C307C274E}"/>
              </a:ext>
            </a:extLst>
          </p:cNvPr>
          <p:cNvSpPr>
            <a:spLocks noGrp="1"/>
          </p:cNvSpPr>
          <p:nvPr>
            <p:ph type="title"/>
          </p:nvPr>
        </p:nvSpPr>
        <p:spPr>
          <a:xfrm>
            <a:off x="686834" y="591344"/>
            <a:ext cx="3200400" cy="5585619"/>
          </a:xfrm>
        </p:spPr>
        <p:txBody>
          <a:bodyPr>
            <a:normAutofit/>
          </a:bodyPr>
          <a:lstStyle/>
          <a:p>
            <a:r>
              <a:rPr lang="tr-TR">
                <a:solidFill>
                  <a:srgbClr val="FFFFFF"/>
                </a:solidFill>
              </a:rPr>
              <a:t>Create Account Detection</a:t>
            </a:r>
            <a:br>
              <a:rPr lang="tr-TR">
                <a:solidFill>
                  <a:srgbClr val="FFFFFF"/>
                </a:solidFill>
              </a:rPr>
            </a:br>
            <a:endParaRPr lang="tr-TR">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36B22B41-7ACA-46B1-962B-A994EEEFBF68}"/>
              </a:ext>
            </a:extLst>
          </p:cNvPr>
          <p:cNvSpPr>
            <a:spLocks noGrp="1"/>
          </p:cNvSpPr>
          <p:nvPr>
            <p:ph idx="1"/>
          </p:nvPr>
        </p:nvSpPr>
        <p:spPr>
          <a:xfrm>
            <a:off x="4447308" y="591344"/>
            <a:ext cx="6906491" cy="5585619"/>
          </a:xfrm>
        </p:spPr>
        <p:txBody>
          <a:bodyPr anchor="ctr">
            <a:normAutofit/>
          </a:bodyPr>
          <a:lstStyle/>
          <a:p>
            <a:r>
              <a:rPr lang="en-US" sz="2400" dirty="0">
                <a:highlight>
                  <a:srgbClr val="FFFF00"/>
                </a:highlight>
              </a:rPr>
              <a:t>Collect data on account creation within a network</a:t>
            </a:r>
            <a:r>
              <a:rPr lang="en-US" sz="2400" dirty="0"/>
              <a:t>. Event ID 4720 is generated when a user account is created on a Windows system and domain controller. </a:t>
            </a:r>
            <a:r>
              <a:rPr lang="en-US" sz="2400" dirty="0">
                <a:highlight>
                  <a:srgbClr val="FFFF00"/>
                </a:highlight>
              </a:rPr>
              <a:t>Perform regular audits of domain and local system accounts </a:t>
            </a:r>
            <a:r>
              <a:rPr lang="en-US" sz="2400" dirty="0"/>
              <a:t>to detect suspicious accounts that may have been created by an adversary.</a:t>
            </a:r>
          </a:p>
          <a:p>
            <a:r>
              <a:rPr lang="en-US" sz="2400" dirty="0"/>
              <a:t>Collect usage logs from cloud administrator accounts to </a:t>
            </a:r>
            <a:r>
              <a:rPr lang="en-US" sz="2400" dirty="0">
                <a:highlight>
                  <a:srgbClr val="FFFF00"/>
                </a:highlight>
              </a:rPr>
              <a:t>identify unusual activity in the creation of new accounts and assignment of roles </a:t>
            </a:r>
            <a:r>
              <a:rPr lang="en-US" sz="2400" dirty="0"/>
              <a:t>to those accounts. Monitor for accounts assigned to admin roles that go over a certain threshold of known admins.</a:t>
            </a:r>
          </a:p>
          <a:p>
            <a:pPr marL="0" indent="0">
              <a:buNone/>
            </a:pPr>
            <a:br>
              <a:rPr lang="en-US" sz="2400" dirty="0"/>
            </a:br>
            <a:endParaRPr lang="tr-TR" sz="2400" dirty="0"/>
          </a:p>
        </p:txBody>
      </p:sp>
    </p:spTree>
    <p:extLst>
      <p:ext uri="{BB962C8B-B14F-4D97-AF65-F5344CB8AC3E}">
        <p14:creationId xmlns:p14="http://schemas.microsoft.com/office/powerpoint/2010/main" val="4160625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4129B52-39CE-4A7E-A215-3E10EF88332C}"/>
              </a:ext>
            </a:extLst>
          </p:cNvPr>
          <p:cNvSpPr>
            <a:spLocks noGrp="1"/>
          </p:cNvSpPr>
          <p:nvPr>
            <p:ph type="title"/>
          </p:nvPr>
        </p:nvSpPr>
        <p:spPr>
          <a:xfrm>
            <a:off x="686834" y="591344"/>
            <a:ext cx="3200400" cy="5585619"/>
          </a:xfrm>
        </p:spPr>
        <p:txBody>
          <a:bodyPr>
            <a:normAutofit/>
          </a:bodyPr>
          <a:lstStyle/>
          <a:p>
            <a:r>
              <a:rPr lang="tr-TR" dirty="0" err="1">
                <a:solidFill>
                  <a:srgbClr val="FFFFFF"/>
                </a:solidFill>
              </a:rPr>
              <a:t>Valid</a:t>
            </a:r>
            <a:r>
              <a:rPr lang="tr-TR" dirty="0">
                <a:solidFill>
                  <a:srgbClr val="FFFFFF"/>
                </a:solidFill>
              </a:rPr>
              <a:t> </a:t>
            </a:r>
            <a:r>
              <a:rPr lang="tr-TR" dirty="0" err="1">
                <a:solidFill>
                  <a:srgbClr val="FFFFFF"/>
                </a:solidFill>
              </a:rPr>
              <a:t>Accounts</a:t>
            </a:r>
            <a:endParaRPr lang="tr-T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045C09FF-C615-4ED0-BA47-C13A3F40DB55}"/>
              </a:ext>
            </a:extLst>
          </p:cNvPr>
          <p:cNvSpPr>
            <a:spLocks noGrp="1"/>
          </p:cNvSpPr>
          <p:nvPr>
            <p:ph idx="1"/>
          </p:nvPr>
        </p:nvSpPr>
        <p:spPr>
          <a:xfrm>
            <a:off x="4447308" y="591344"/>
            <a:ext cx="6906491" cy="5585619"/>
          </a:xfrm>
        </p:spPr>
        <p:txBody>
          <a:bodyPr anchor="ctr">
            <a:normAutofit/>
          </a:bodyPr>
          <a:lstStyle/>
          <a:p>
            <a:r>
              <a:rPr lang="en-US" sz="2000" dirty="0"/>
              <a:t>Adversaries </a:t>
            </a:r>
            <a:r>
              <a:rPr lang="en-US" sz="2000" dirty="0">
                <a:highlight>
                  <a:srgbClr val="FFFF00"/>
                </a:highlight>
              </a:rPr>
              <a:t>may steal the credentials of a specific user or service account</a:t>
            </a:r>
            <a:r>
              <a:rPr lang="en-US" sz="2000" dirty="0"/>
              <a:t> using Credential Access techniques or </a:t>
            </a:r>
            <a:r>
              <a:rPr lang="en-US" sz="2000" dirty="0">
                <a:highlight>
                  <a:srgbClr val="FFFF00"/>
                </a:highlight>
              </a:rPr>
              <a:t>capture credentials earlier in their reconnaissance process through social engineering</a:t>
            </a:r>
            <a:r>
              <a:rPr lang="en-US" sz="2000" dirty="0"/>
              <a:t> for means of gaining Initial Access.</a:t>
            </a:r>
          </a:p>
          <a:p>
            <a:r>
              <a:rPr lang="en-US" sz="2000" dirty="0"/>
              <a:t>Accounts that an adversary may use can fall into three categories: default, local, and domain accounts. Default accounts are those that are built-into an OS such as Guest or Administrator account on Windows systems or default factory/provider set accounts on other types of systems, software, or devices. Local accounts are those configured by an organization for use by users, remote support, services, or for administration on a single system or service. Domain accounts are those managed by Active Directory Domain Services where access and permissions are configured across systems and services that are part of that domain. Domain accounts can cover users, administrators, and services.</a:t>
            </a:r>
            <a:br>
              <a:rPr lang="en-US" sz="2000" dirty="0"/>
            </a:br>
            <a:endParaRPr lang="tr-TR" sz="2000" dirty="0"/>
          </a:p>
        </p:txBody>
      </p:sp>
    </p:spTree>
    <p:extLst>
      <p:ext uri="{BB962C8B-B14F-4D97-AF65-F5344CB8AC3E}">
        <p14:creationId xmlns:p14="http://schemas.microsoft.com/office/powerpoint/2010/main" val="2728685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073B630-3201-464F-B0B5-148CBB3A2563}"/>
              </a:ext>
            </a:extLst>
          </p:cNvPr>
          <p:cNvSpPr>
            <a:spLocks noGrp="1"/>
          </p:cNvSpPr>
          <p:nvPr>
            <p:ph type="title"/>
          </p:nvPr>
        </p:nvSpPr>
        <p:spPr>
          <a:xfrm>
            <a:off x="686834" y="591344"/>
            <a:ext cx="3200400" cy="5585619"/>
          </a:xfrm>
        </p:spPr>
        <p:txBody>
          <a:bodyPr>
            <a:normAutofit/>
          </a:bodyPr>
          <a:lstStyle/>
          <a:p>
            <a:r>
              <a:rPr lang="tr-TR">
                <a:solidFill>
                  <a:srgbClr val="FFFFFF"/>
                </a:solidFill>
              </a:rPr>
              <a:t>Valid Accounts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1ED1EBEF-DC86-4BFE-9853-F292F1DAC15E}"/>
              </a:ext>
            </a:extLst>
          </p:cNvPr>
          <p:cNvSpPr>
            <a:spLocks noGrp="1"/>
          </p:cNvSpPr>
          <p:nvPr>
            <p:ph idx="1"/>
          </p:nvPr>
        </p:nvSpPr>
        <p:spPr>
          <a:xfrm>
            <a:off x="4447308" y="591344"/>
            <a:ext cx="6906491" cy="5585619"/>
          </a:xfrm>
        </p:spPr>
        <p:txBody>
          <a:bodyPr anchor="ctr">
            <a:normAutofit/>
          </a:bodyPr>
          <a:lstStyle/>
          <a:p>
            <a:r>
              <a:rPr lang="en-US" sz="1800" dirty="0">
                <a:highlight>
                  <a:srgbClr val="FFFF00"/>
                </a:highlight>
              </a:rPr>
              <a:t>Compromised credentials may be used to bypass access controls placed on various resources on systems within the network </a:t>
            </a:r>
            <a:r>
              <a:rPr lang="en-US" sz="1800" dirty="0"/>
              <a:t>and may even be used for persistent access to remote systems and externally available services, such as VPNs, Outlook Web Access and remote desktop. </a:t>
            </a:r>
            <a:r>
              <a:rPr lang="en-US" sz="1800" dirty="0">
                <a:highlight>
                  <a:srgbClr val="FFFF00"/>
                </a:highlight>
              </a:rPr>
              <a:t>Compromised credentials may also grant an adversary increased privilege to specific systems or access to restricted areas of the network.</a:t>
            </a:r>
            <a:r>
              <a:rPr lang="en-US" sz="1800" dirty="0"/>
              <a:t> Adversaries may choose not to use malware or tools in conjunction with the legitimate access those credentials provide to make it harder to detect their presence.</a:t>
            </a:r>
          </a:p>
          <a:p>
            <a:r>
              <a:rPr lang="en-US" sz="1800" dirty="0"/>
              <a:t>Default accounts are also not limited to Guest and Administrator on client machines, they also include accounts that are preset for equipment such as network devices and computer applications whether they are internal, open source, or COTS. Appliances that come preset with a username and password combination pose a serious threat to organizations that do not change it post installation, as they are easy targets for an adversary. Similarly, adversaries may also utilize publicly disclosed private keys, or stolen private keys, to legitimately connect to remote environments via Remote Services </a:t>
            </a:r>
          </a:p>
          <a:p>
            <a:endParaRPr lang="tr-TR" sz="1800" dirty="0"/>
          </a:p>
        </p:txBody>
      </p:sp>
    </p:spTree>
    <p:extLst>
      <p:ext uri="{BB962C8B-B14F-4D97-AF65-F5344CB8AC3E}">
        <p14:creationId xmlns:p14="http://schemas.microsoft.com/office/powerpoint/2010/main" val="905615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6EBF88A-B5EB-4D67-966C-DD59ED523FA1}"/>
              </a:ext>
            </a:extLst>
          </p:cNvPr>
          <p:cNvSpPr>
            <a:spLocks noGrp="1"/>
          </p:cNvSpPr>
          <p:nvPr>
            <p:ph type="title"/>
          </p:nvPr>
        </p:nvSpPr>
        <p:spPr>
          <a:xfrm>
            <a:off x="686834" y="591344"/>
            <a:ext cx="3200400" cy="5585619"/>
          </a:xfrm>
        </p:spPr>
        <p:txBody>
          <a:bodyPr>
            <a:normAutofit/>
          </a:bodyPr>
          <a:lstStyle/>
          <a:p>
            <a:r>
              <a:rPr lang="tr-TR" dirty="0" err="1">
                <a:solidFill>
                  <a:srgbClr val="FFFFFF"/>
                </a:solidFill>
              </a:rPr>
              <a:t>Valid</a:t>
            </a:r>
            <a:r>
              <a:rPr lang="tr-TR" dirty="0">
                <a:solidFill>
                  <a:srgbClr val="FFFFFF"/>
                </a:solidFill>
              </a:rPr>
              <a:t> </a:t>
            </a:r>
            <a:r>
              <a:rPr lang="tr-TR" dirty="0" err="1">
                <a:solidFill>
                  <a:srgbClr val="FFFFFF"/>
                </a:solidFill>
              </a:rPr>
              <a:t>Accounts</a:t>
            </a:r>
            <a:endParaRPr lang="tr-T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31E996AB-B455-4E6D-8CE4-BFA35EC37105}"/>
              </a:ext>
            </a:extLst>
          </p:cNvPr>
          <p:cNvSpPr>
            <a:spLocks noGrp="1"/>
          </p:cNvSpPr>
          <p:nvPr>
            <p:ph idx="1"/>
          </p:nvPr>
        </p:nvSpPr>
        <p:spPr>
          <a:xfrm>
            <a:off x="4447308" y="591344"/>
            <a:ext cx="6906491" cy="5585619"/>
          </a:xfrm>
        </p:spPr>
        <p:txBody>
          <a:bodyPr anchor="ctr">
            <a:normAutofit/>
          </a:bodyPr>
          <a:lstStyle/>
          <a:p>
            <a:r>
              <a:rPr lang="en-US" dirty="0"/>
              <a:t>The overlap of account access, credentials, and permissions across a network of systems is of concern because the </a:t>
            </a:r>
            <a:r>
              <a:rPr lang="en-US" dirty="0">
                <a:highlight>
                  <a:srgbClr val="FFFF00"/>
                </a:highlight>
              </a:rPr>
              <a:t>adversary may be able to pivot across accounts and systems to reach a high level of access </a:t>
            </a:r>
            <a:r>
              <a:rPr lang="en-US" dirty="0"/>
              <a:t>(i.e., domain or enterprise administrator) to bypass access controls set within the enterprise. </a:t>
            </a:r>
            <a:br>
              <a:rPr lang="en-US" dirty="0"/>
            </a:br>
            <a:endParaRPr lang="tr-TR" dirty="0"/>
          </a:p>
        </p:txBody>
      </p:sp>
    </p:spTree>
    <p:extLst>
      <p:ext uri="{BB962C8B-B14F-4D97-AF65-F5344CB8AC3E}">
        <p14:creationId xmlns:p14="http://schemas.microsoft.com/office/powerpoint/2010/main" val="2316759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D9A1909-34C4-4AA2-959A-C5C48A9A74E0}"/>
              </a:ext>
            </a:extLst>
          </p:cNvPr>
          <p:cNvSpPr>
            <a:spLocks noGrp="1"/>
          </p:cNvSpPr>
          <p:nvPr>
            <p:ph type="title"/>
          </p:nvPr>
        </p:nvSpPr>
        <p:spPr/>
        <p:txBody>
          <a:bodyPr/>
          <a:lstStyle/>
          <a:p>
            <a:pPr algn="ctr"/>
            <a:r>
              <a:rPr lang="tr-TR" dirty="0" err="1"/>
              <a:t>Valid</a:t>
            </a:r>
            <a:r>
              <a:rPr lang="tr-TR" dirty="0"/>
              <a:t> </a:t>
            </a:r>
            <a:r>
              <a:rPr lang="tr-TR" dirty="0" err="1"/>
              <a:t>Accounts</a:t>
            </a:r>
            <a:r>
              <a:rPr lang="tr-TR" dirty="0"/>
              <a:t> </a:t>
            </a:r>
            <a:r>
              <a:rPr lang="tr-TR" dirty="0" err="1"/>
              <a:t>Procedure</a:t>
            </a:r>
            <a:r>
              <a:rPr lang="tr-TR" dirty="0"/>
              <a:t> </a:t>
            </a:r>
            <a:r>
              <a:rPr lang="tr-TR" dirty="0" err="1"/>
              <a:t>Examples</a:t>
            </a:r>
            <a:endParaRPr lang="tr-TR" dirty="0"/>
          </a:p>
        </p:txBody>
      </p:sp>
      <p:graphicFrame>
        <p:nvGraphicFramePr>
          <p:cNvPr id="4" name="İçerik Yer Tutucusu 3">
            <a:extLst>
              <a:ext uri="{FF2B5EF4-FFF2-40B4-BE49-F238E27FC236}">
                <a16:creationId xmlns:a16="http://schemas.microsoft.com/office/drawing/2014/main" id="{25F69BBE-8FB8-49FF-8F53-EB04108727A7}"/>
              </a:ext>
            </a:extLst>
          </p:cNvPr>
          <p:cNvGraphicFramePr>
            <a:graphicFrameLocks noGrp="1"/>
          </p:cNvGraphicFramePr>
          <p:nvPr>
            <p:ph idx="1"/>
            <p:extLst>
              <p:ext uri="{D42A27DB-BD31-4B8C-83A1-F6EECF244321}">
                <p14:modId xmlns:p14="http://schemas.microsoft.com/office/powerpoint/2010/main" val="3865736380"/>
              </p:ext>
            </p:extLst>
          </p:nvPr>
        </p:nvGraphicFramePr>
        <p:xfrm>
          <a:off x="4003006" y="1452004"/>
          <a:ext cx="4185988" cy="4824260"/>
        </p:xfrm>
        <a:graphic>
          <a:graphicData uri="http://schemas.openxmlformats.org/drawingml/2006/table">
            <a:tbl>
              <a:tblPr/>
              <a:tblGrid>
                <a:gridCol w="2092994">
                  <a:extLst>
                    <a:ext uri="{9D8B030D-6E8A-4147-A177-3AD203B41FA5}">
                      <a16:colId xmlns:a16="http://schemas.microsoft.com/office/drawing/2014/main" val="2382046463"/>
                    </a:ext>
                  </a:extLst>
                </a:gridCol>
                <a:gridCol w="2092994">
                  <a:extLst>
                    <a:ext uri="{9D8B030D-6E8A-4147-A177-3AD203B41FA5}">
                      <a16:colId xmlns:a16="http://schemas.microsoft.com/office/drawing/2014/main" val="3833695217"/>
                    </a:ext>
                  </a:extLst>
                </a:gridCol>
              </a:tblGrid>
              <a:tr h="174054">
                <a:tc>
                  <a:txBody>
                    <a:bodyPr/>
                    <a:lstStyle/>
                    <a:p>
                      <a:pPr algn="l" fontAlgn="b"/>
                      <a:r>
                        <a:rPr lang="tr-TR" sz="900">
                          <a:effectLst/>
                        </a:rPr>
                        <a:t>Name</a:t>
                      </a:r>
                    </a:p>
                  </a:txBody>
                  <a:tcPr marL="43513" marR="43513" marT="21757" marB="21757"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algn="l" fontAlgn="b"/>
                      <a:r>
                        <a:rPr lang="tr-TR" sz="900">
                          <a:effectLst/>
                        </a:rPr>
                        <a:t>Description</a:t>
                      </a:r>
                    </a:p>
                  </a:txBody>
                  <a:tcPr marL="43513" marR="43513" marT="21757" marB="21757"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4104639711"/>
                  </a:ext>
                </a:extLst>
              </a:tr>
              <a:tr h="304594">
                <a:tc>
                  <a:txBody>
                    <a:bodyPr/>
                    <a:lstStyle/>
                    <a:p>
                      <a:pPr fontAlgn="t"/>
                      <a:r>
                        <a:rPr lang="tr-TR" sz="900" u="none" strike="noStrike" dirty="0">
                          <a:solidFill>
                            <a:srgbClr val="4F7CAC"/>
                          </a:solidFill>
                          <a:effectLst/>
                        </a:rPr>
                        <a:t>APT18</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APT18</a:t>
                      </a:r>
                      <a:r>
                        <a:rPr lang="en-US" sz="900" dirty="0">
                          <a:effectLst/>
                        </a:rPr>
                        <a:t> actors leverage legitimate credentials to log into external remote services.</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747202916"/>
                  </a:ext>
                </a:extLst>
              </a:tr>
              <a:tr h="1348915">
                <a:tc>
                  <a:txBody>
                    <a:bodyPr/>
                    <a:lstStyle/>
                    <a:p>
                      <a:pPr fontAlgn="t"/>
                      <a:r>
                        <a:rPr lang="tr-TR" sz="900" u="none" strike="noStrike" dirty="0">
                          <a:solidFill>
                            <a:srgbClr val="4F7CAC"/>
                          </a:solidFill>
                          <a:effectLst/>
                        </a:rPr>
                        <a:t>APT28</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APT28</a:t>
                      </a:r>
                      <a:r>
                        <a:rPr lang="en-US" sz="900" dirty="0">
                          <a:effectLst/>
                        </a:rPr>
                        <a:t> has used legitimate credentials to gain initial access, maintain access, and exfiltrate data from a victim network. The group has specifically used credentials stolen through a spear phishing email to login to the DCCC network. The group has also leveraged default manufacturer's passwords to gain initial access to corporate networks via IoT devices such as a VOIP phone, printer, and video decoder.</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684384885"/>
                  </a:ext>
                </a:extLst>
              </a:tr>
              <a:tr h="435134">
                <a:tc>
                  <a:txBody>
                    <a:bodyPr/>
                    <a:lstStyle/>
                    <a:p>
                      <a:pPr fontAlgn="t"/>
                      <a:r>
                        <a:rPr lang="tr-TR" sz="900" u="none" strike="noStrike" dirty="0">
                          <a:solidFill>
                            <a:srgbClr val="4F7CAC"/>
                          </a:solidFill>
                          <a:effectLst/>
                        </a:rPr>
                        <a:t>APT3</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APT3</a:t>
                      </a:r>
                      <a:r>
                        <a:rPr lang="en-US" sz="900" dirty="0">
                          <a:effectLst/>
                        </a:rPr>
                        <a:t> leverages valid accounts after gaining credentials for use within the victim domain.</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988923021"/>
                  </a:ext>
                </a:extLst>
              </a:tr>
              <a:tr h="304594">
                <a:tc>
                  <a:txBody>
                    <a:bodyPr/>
                    <a:lstStyle/>
                    <a:p>
                      <a:pPr fontAlgn="t"/>
                      <a:r>
                        <a:rPr lang="tr-TR" sz="900" u="none" strike="noStrike" dirty="0">
                          <a:solidFill>
                            <a:srgbClr val="4F7CAC"/>
                          </a:solidFill>
                          <a:effectLst/>
                        </a:rPr>
                        <a:t>APT32</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APT32</a:t>
                      </a:r>
                      <a:r>
                        <a:rPr lang="en-US" sz="900" dirty="0">
                          <a:effectLst/>
                        </a:rPr>
                        <a:t> has used legitimate local admin account credentials.</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176523325"/>
                  </a:ext>
                </a:extLst>
              </a:tr>
              <a:tr h="304594">
                <a:tc>
                  <a:txBody>
                    <a:bodyPr/>
                    <a:lstStyle/>
                    <a:p>
                      <a:pPr fontAlgn="t"/>
                      <a:r>
                        <a:rPr lang="tr-TR" sz="900" u="none" strike="noStrike" dirty="0">
                          <a:solidFill>
                            <a:srgbClr val="4F7CAC"/>
                          </a:solidFill>
                          <a:effectLst/>
                        </a:rPr>
                        <a:t>APT33</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APT33</a:t>
                      </a:r>
                      <a:r>
                        <a:rPr lang="en-US" sz="900" dirty="0">
                          <a:effectLst/>
                        </a:rPr>
                        <a:t> has used valid accounts for initial access and privilege escalation.</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933920834"/>
                  </a:ext>
                </a:extLst>
              </a:tr>
              <a:tr h="304594">
                <a:tc>
                  <a:txBody>
                    <a:bodyPr/>
                    <a:lstStyle/>
                    <a:p>
                      <a:pPr fontAlgn="t"/>
                      <a:r>
                        <a:rPr lang="tr-TR" sz="900" u="none" strike="noStrike" dirty="0">
                          <a:solidFill>
                            <a:srgbClr val="4F7CAC"/>
                          </a:solidFill>
                          <a:effectLst/>
                        </a:rPr>
                        <a:t>APT39</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APT39</a:t>
                      </a:r>
                      <a:r>
                        <a:rPr lang="en-US" sz="900" dirty="0">
                          <a:effectLst/>
                        </a:rPr>
                        <a:t> has used stolen credentials to compromise Outlook Web Access (OWA).</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297336225"/>
                  </a:ext>
                </a:extLst>
              </a:tr>
              <a:tr h="304594">
                <a:tc>
                  <a:txBody>
                    <a:bodyPr/>
                    <a:lstStyle/>
                    <a:p>
                      <a:pPr fontAlgn="t"/>
                      <a:r>
                        <a:rPr lang="tr-TR" sz="900" u="none" strike="noStrike" dirty="0">
                          <a:solidFill>
                            <a:srgbClr val="4F7CAC"/>
                          </a:solidFill>
                          <a:effectLst/>
                        </a:rPr>
                        <a:t>APT41</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APT41</a:t>
                      </a:r>
                      <a:r>
                        <a:rPr lang="en-US" sz="900" dirty="0">
                          <a:effectLst/>
                        </a:rPr>
                        <a:t> used compromised credentials to log on to other systems.</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685097441"/>
                  </a:ext>
                </a:extLst>
              </a:tr>
              <a:tr h="435134">
                <a:tc>
                  <a:txBody>
                    <a:bodyPr/>
                    <a:lstStyle/>
                    <a:p>
                      <a:pPr fontAlgn="t"/>
                      <a:r>
                        <a:rPr lang="tr-TR" sz="900" u="none" strike="noStrike" dirty="0" err="1">
                          <a:solidFill>
                            <a:srgbClr val="4F7CAC"/>
                          </a:solidFill>
                          <a:effectLst/>
                        </a:rPr>
                        <a:t>Carbanak</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err="1">
                          <a:solidFill>
                            <a:srgbClr val="4F7CAC"/>
                          </a:solidFill>
                          <a:effectLst/>
                        </a:rPr>
                        <a:t>Carbanak</a:t>
                      </a:r>
                      <a:r>
                        <a:rPr lang="en-US" sz="900" dirty="0">
                          <a:effectLst/>
                        </a:rPr>
                        <a:t> actors used legitimate credentials of banking employees to perform operations that sent them millions of dollars.</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070111364"/>
                  </a:ext>
                </a:extLst>
              </a:tr>
              <a:tr h="435134">
                <a:tc>
                  <a:txBody>
                    <a:bodyPr/>
                    <a:lstStyle/>
                    <a:p>
                      <a:pPr fontAlgn="t"/>
                      <a:r>
                        <a:rPr lang="tr-TR" sz="900" u="none" strike="noStrike" dirty="0" err="1">
                          <a:solidFill>
                            <a:srgbClr val="4F7CAC"/>
                          </a:solidFill>
                          <a:effectLst/>
                        </a:rPr>
                        <a:t>Cobalt</a:t>
                      </a:r>
                      <a:r>
                        <a:rPr lang="tr-TR" sz="900" u="none" strike="noStrike" dirty="0">
                          <a:solidFill>
                            <a:srgbClr val="4F7CAC"/>
                          </a:solidFill>
                          <a:effectLst/>
                        </a:rPr>
                        <a:t> Strike</a:t>
                      </a:r>
                      <a:endParaRPr lang="tr-TR" sz="900" dirty="0">
                        <a:effectLst/>
                      </a:endParaRP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900" u="none" strike="noStrike" dirty="0">
                          <a:solidFill>
                            <a:srgbClr val="4F7CAC"/>
                          </a:solidFill>
                          <a:effectLst/>
                        </a:rPr>
                        <a:t>Cobalt Strike</a:t>
                      </a:r>
                      <a:r>
                        <a:rPr lang="en-US" sz="900" dirty="0">
                          <a:effectLst/>
                        </a:rPr>
                        <a:t> can use known credentials to run commands and spawn processes as another user.</a:t>
                      </a:r>
                    </a:p>
                  </a:txBody>
                  <a:tcPr marL="43513" marR="43513" marT="21757" marB="2175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141694058"/>
                  </a:ext>
                </a:extLst>
              </a:tr>
            </a:tbl>
          </a:graphicData>
        </a:graphic>
      </p:graphicFrame>
    </p:spTree>
    <p:extLst>
      <p:ext uri="{BB962C8B-B14F-4D97-AF65-F5344CB8AC3E}">
        <p14:creationId xmlns:p14="http://schemas.microsoft.com/office/powerpoint/2010/main" val="4131868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C79E41-4080-49E8-8581-4E7EAF52F46C}"/>
              </a:ext>
            </a:extLst>
          </p:cNvPr>
          <p:cNvSpPr>
            <a:spLocks noGrp="1"/>
          </p:cNvSpPr>
          <p:nvPr>
            <p:ph type="title"/>
          </p:nvPr>
        </p:nvSpPr>
        <p:spPr/>
        <p:txBody>
          <a:bodyPr/>
          <a:lstStyle/>
          <a:p>
            <a:pPr algn="ctr"/>
            <a:r>
              <a:rPr lang="tr-TR" dirty="0" err="1"/>
              <a:t>Cobalt</a:t>
            </a:r>
            <a:r>
              <a:rPr lang="tr-TR" dirty="0"/>
              <a:t> Strike</a:t>
            </a:r>
          </a:p>
        </p:txBody>
      </p:sp>
      <p:pic>
        <p:nvPicPr>
          <p:cNvPr id="5" name="İçerik Yer Tutucusu 4" descr="ekran görüntüsü içeren bir resim&#10;&#10;Açıklama otomatik olarak oluşturuldu">
            <a:extLst>
              <a:ext uri="{FF2B5EF4-FFF2-40B4-BE49-F238E27FC236}">
                <a16:creationId xmlns:a16="http://schemas.microsoft.com/office/drawing/2014/main" id="{6765AF5E-A6EF-41BA-8905-9D87892FAAA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543969"/>
            <a:ext cx="5181600" cy="2914650"/>
          </a:xfrm>
        </p:spPr>
      </p:pic>
      <p:sp>
        <p:nvSpPr>
          <p:cNvPr id="6" name="İçerik Yer Tutucusu 5">
            <a:extLst>
              <a:ext uri="{FF2B5EF4-FFF2-40B4-BE49-F238E27FC236}">
                <a16:creationId xmlns:a16="http://schemas.microsoft.com/office/drawing/2014/main" id="{ABBB14FA-5337-4924-BF39-0A20A761F876}"/>
              </a:ext>
            </a:extLst>
          </p:cNvPr>
          <p:cNvSpPr>
            <a:spLocks noGrp="1"/>
          </p:cNvSpPr>
          <p:nvPr>
            <p:ph sz="half" idx="2"/>
          </p:nvPr>
        </p:nvSpPr>
        <p:spPr/>
        <p:txBody>
          <a:bodyPr>
            <a:normAutofit lnSpcReduction="10000"/>
          </a:bodyPr>
          <a:lstStyle/>
          <a:p>
            <a:r>
              <a:rPr lang="en-US" dirty="0"/>
              <a:t>Cobalt Strike is a paid penetration testing product that allows an attacker to deploy an agent named 'Beacon' on the victim machine. Beacon includes a wealth of functionality to the attacker, including, but not limited to command execution, key logging, file transfer, SOCKS proxying, privilege escalation, </a:t>
            </a:r>
            <a:r>
              <a:rPr lang="en-US" dirty="0" err="1"/>
              <a:t>mimikatz</a:t>
            </a:r>
            <a:r>
              <a:rPr lang="en-US" dirty="0"/>
              <a:t>, port scanning and lateral movement.</a:t>
            </a:r>
            <a:endParaRPr lang="tr-TR" dirty="0"/>
          </a:p>
        </p:txBody>
      </p:sp>
    </p:spTree>
    <p:extLst>
      <p:ext uri="{BB962C8B-B14F-4D97-AF65-F5344CB8AC3E}">
        <p14:creationId xmlns:p14="http://schemas.microsoft.com/office/powerpoint/2010/main" val="2464727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139C2F-737F-49F9-929A-C33BFD10BCBA}"/>
              </a:ext>
            </a:extLst>
          </p:cNvPr>
          <p:cNvSpPr>
            <a:spLocks noGrp="1"/>
          </p:cNvSpPr>
          <p:nvPr>
            <p:ph type="title"/>
          </p:nvPr>
        </p:nvSpPr>
        <p:spPr/>
        <p:txBody>
          <a:bodyPr/>
          <a:lstStyle/>
          <a:p>
            <a:pPr algn="ctr"/>
            <a:r>
              <a:rPr lang="tr-TR" dirty="0" err="1"/>
              <a:t>Cobalt</a:t>
            </a:r>
            <a:r>
              <a:rPr lang="tr-TR" dirty="0"/>
              <a:t> Strike</a:t>
            </a:r>
          </a:p>
        </p:txBody>
      </p:sp>
      <p:sp>
        <p:nvSpPr>
          <p:cNvPr id="3" name="İçerik Yer Tutucusu 2">
            <a:extLst>
              <a:ext uri="{FF2B5EF4-FFF2-40B4-BE49-F238E27FC236}">
                <a16:creationId xmlns:a16="http://schemas.microsoft.com/office/drawing/2014/main" id="{F3C36A38-4341-4B44-A2E8-6E5A7943621D}"/>
              </a:ext>
            </a:extLst>
          </p:cNvPr>
          <p:cNvSpPr>
            <a:spLocks noGrp="1"/>
          </p:cNvSpPr>
          <p:nvPr>
            <p:ph sz="half" idx="1"/>
          </p:nvPr>
        </p:nvSpPr>
        <p:spPr/>
        <p:txBody>
          <a:bodyPr/>
          <a:lstStyle/>
          <a:p>
            <a:r>
              <a:rPr lang="tr-TR" dirty="0" err="1"/>
              <a:t>The</a:t>
            </a:r>
            <a:r>
              <a:rPr lang="tr-TR" dirty="0"/>
              <a:t> </a:t>
            </a:r>
            <a:r>
              <a:rPr lang="tr-TR" dirty="0" err="1"/>
              <a:t>Beacon</a:t>
            </a:r>
            <a:r>
              <a:rPr lang="tr-TR" dirty="0"/>
              <a:t> </a:t>
            </a:r>
            <a:r>
              <a:rPr lang="tr-TR" dirty="0" err="1"/>
              <a:t>implant</a:t>
            </a:r>
            <a:r>
              <a:rPr lang="tr-TR" dirty="0"/>
              <a:t> has </a:t>
            </a:r>
            <a:r>
              <a:rPr lang="tr-TR" dirty="0" err="1"/>
              <a:t>become</a:t>
            </a:r>
            <a:r>
              <a:rPr lang="tr-TR" dirty="0"/>
              <a:t> popular </a:t>
            </a:r>
            <a:r>
              <a:rPr lang="tr-TR" dirty="0" err="1"/>
              <a:t>amongst</a:t>
            </a:r>
            <a:r>
              <a:rPr lang="tr-TR" dirty="0"/>
              <a:t> </a:t>
            </a:r>
            <a:r>
              <a:rPr lang="tr-TR" dirty="0" err="1"/>
              <a:t>targeted</a:t>
            </a:r>
            <a:r>
              <a:rPr lang="tr-TR" dirty="0"/>
              <a:t> </a:t>
            </a:r>
            <a:r>
              <a:rPr lang="tr-TR" dirty="0" err="1"/>
              <a:t>attackers</a:t>
            </a:r>
            <a:r>
              <a:rPr lang="tr-TR" dirty="0"/>
              <a:t> </a:t>
            </a:r>
            <a:r>
              <a:rPr lang="tr-TR" dirty="0" err="1"/>
              <a:t>and</a:t>
            </a:r>
            <a:r>
              <a:rPr lang="tr-TR" dirty="0"/>
              <a:t> </a:t>
            </a:r>
            <a:r>
              <a:rPr lang="tr-TR" dirty="0" err="1"/>
              <a:t>criminal</a:t>
            </a:r>
            <a:r>
              <a:rPr lang="tr-TR" dirty="0"/>
              <a:t> </a:t>
            </a:r>
            <a:r>
              <a:rPr lang="tr-TR" dirty="0" err="1"/>
              <a:t>users</a:t>
            </a:r>
            <a:r>
              <a:rPr lang="tr-TR" dirty="0"/>
              <a:t> as it is </a:t>
            </a:r>
            <a:r>
              <a:rPr lang="tr-TR" dirty="0" err="1"/>
              <a:t>well</a:t>
            </a:r>
            <a:r>
              <a:rPr lang="tr-TR" dirty="0"/>
              <a:t> </a:t>
            </a:r>
            <a:r>
              <a:rPr lang="tr-TR" dirty="0" err="1"/>
              <a:t>written</a:t>
            </a:r>
            <a:r>
              <a:rPr lang="tr-TR" dirty="0"/>
              <a:t>, </a:t>
            </a:r>
            <a:r>
              <a:rPr lang="tr-TR" dirty="0" err="1"/>
              <a:t>stable</a:t>
            </a:r>
            <a:r>
              <a:rPr lang="tr-TR" dirty="0"/>
              <a:t> </a:t>
            </a:r>
            <a:r>
              <a:rPr lang="tr-TR" dirty="0" err="1"/>
              <a:t>and</a:t>
            </a:r>
            <a:r>
              <a:rPr lang="tr-TR" dirty="0"/>
              <a:t> </a:t>
            </a:r>
            <a:r>
              <a:rPr lang="tr-TR" dirty="0" err="1"/>
              <a:t>highly</a:t>
            </a:r>
            <a:r>
              <a:rPr lang="tr-TR" dirty="0"/>
              <a:t> </a:t>
            </a:r>
            <a:r>
              <a:rPr lang="tr-TR" dirty="0" err="1"/>
              <a:t>customizable</a:t>
            </a:r>
            <a:r>
              <a:rPr lang="tr-TR" dirty="0"/>
              <a:t>. </a:t>
            </a:r>
            <a:r>
              <a:rPr lang="tr-TR" dirty="0" err="1"/>
              <a:t>Even</a:t>
            </a:r>
            <a:r>
              <a:rPr lang="tr-TR" dirty="0"/>
              <a:t> </a:t>
            </a:r>
            <a:r>
              <a:rPr lang="tr-TR" dirty="0" err="1"/>
              <a:t>if</a:t>
            </a:r>
            <a:r>
              <a:rPr lang="tr-TR" dirty="0"/>
              <a:t> </a:t>
            </a:r>
            <a:r>
              <a:rPr lang="tr-TR" dirty="0" err="1"/>
              <a:t>some</a:t>
            </a:r>
            <a:r>
              <a:rPr lang="tr-TR" dirty="0"/>
              <a:t> </a:t>
            </a:r>
            <a:r>
              <a:rPr lang="tr-TR" dirty="0" err="1"/>
              <a:t>tools</a:t>
            </a:r>
            <a:r>
              <a:rPr lang="tr-TR" dirty="0"/>
              <a:t> </a:t>
            </a:r>
            <a:r>
              <a:rPr lang="tr-TR" dirty="0" err="1"/>
              <a:t>like</a:t>
            </a:r>
            <a:r>
              <a:rPr lang="tr-TR" dirty="0"/>
              <a:t> </a:t>
            </a:r>
            <a:r>
              <a:rPr lang="tr-TR" dirty="0" err="1"/>
              <a:t>this</a:t>
            </a:r>
            <a:r>
              <a:rPr lang="tr-TR" dirty="0"/>
              <a:t> </a:t>
            </a:r>
            <a:r>
              <a:rPr lang="tr-TR" dirty="0" err="1"/>
              <a:t>are</a:t>
            </a:r>
            <a:r>
              <a:rPr lang="tr-TR" dirty="0"/>
              <a:t> </a:t>
            </a:r>
            <a:r>
              <a:rPr lang="tr-TR" dirty="0" err="1"/>
              <a:t>created</a:t>
            </a:r>
            <a:r>
              <a:rPr lang="tr-TR" dirty="0"/>
              <a:t> </a:t>
            </a:r>
            <a:r>
              <a:rPr lang="tr-TR" dirty="0" err="1"/>
              <a:t>only</a:t>
            </a:r>
            <a:r>
              <a:rPr lang="tr-TR" dirty="0"/>
              <a:t> </a:t>
            </a:r>
            <a:r>
              <a:rPr lang="tr-TR" dirty="0" err="1"/>
              <a:t>for</a:t>
            </a:r>
            <a:r>
              <a:rPr lang="tr-TR" dirty="0"/>
              <a:t> </a:t>
            </a:r>
            <a:r>
              <a:rPr lang="tr-TR" dirty="0" err="1"/>
              <a:t>scientific</a:t>
            </a:r>
            <a:r>
              <a:rPr lang="tr-TR" dirty="0"/>
              <a:t> </a:t>
            </a:r>
            <a:r>
              <a:rPr lang="tr-TR" dirty="0" err="1"/>
              <a:t>purposes</a:t>
            </a:r>
            <a:r>
              <a:rPr lang="tr-TR" dirty="0"/>
              <a:t>, </a:t>
            </a:r>
            <a:r>
              <a:rPr lang="tr-TR" dirty="0" err="1"/>
              <a:t>some</a:t>
            </a:r>
            <a:r>
              <a:rPr lang="tr-TR" dirty="0"/>
              <a:t> </a:t>
            </a:r>
            <a:r>
              <a:rPr lang="tr-TR" dirty="0" err="1"/>
              <a:t>criminals</a:t>
            </a:r>
            <a:r>
              <a:rPr lang="tr-TR" dirty="0"/>
              <a:t> can </a:t>
            </a:r>
            <a:r>
              <a:rPr lang="tr-TR" dirty="0" err="1"/>
              <a:t>use</a:t>
            </a:r>
            <a:r>
              <a:rPr lang="tr-TR" dirty="0"/>
              <a:t> it </a:t>
            </a:r>
            <a:r>
              <a:rPr lang="tr-TR" dirty="0" err="1"/>
              <a:t>for</a:t>
            </a:r>
            <a:r>
              <a:rPr lang="tr-TR" dirty="0"/>
              <a:t> </a:t>
            </a:r>
            <a:r>
              <a:rPr lang="tr-TR" dirty="0" err="1"/>
              <a:t>many</a:t>
            </a:r>
            <a:r>
              <a:rPr lang="tr-TR" dirty="0"/>
              <a:t> </a:t>
            </a:r>
            <a:r>
              <a:rPr lang="tr-TR" dirty="0" err="1"/>
              <a:t>criminal</a:t>
            </a:r>
            <a:r>
              <a:rPr lang="tr-TR" dirty="0"/>
              <a:t> </a:t>
            </a:r>
            <a:r>
              <a:rPr lang="tr-TR" dirty="0" err="1"/>
              <a:t>activities</a:t>
            </a:r>
            <a:r>
              <a:rPr lang="tr-TR" dirty="0"/>
              <a:t>.  </a:t>
            </a:r>
          </a:p>
        </p:txBody>
      </p:sp>
      <p:pic>
        <p:nvPicPr>
          <p:cNvPr id="8" name="İçerik Yer Tutucusu 7" descr="ekran görüntüsü, bilgisayar içeren bir resim&#10;&#10;Açıklama otomatik olarak oluşturuldu">
            <a:extLst>
              <a:ext uri="{FF2B5EF4-FFF2-40B4-BE49-F238E27FC236}">
                <a16:creationId xmlns:a16="http://schemas.microsoft.com/office/drawing/2014/main" id="{3F76C9FC-DAAA-4F6E-B38C-5DF6292B995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2277639"/>
            <a:ext cx="5181600" cy="2914650"/>
          </a:xfrm>
        </p:spPr>
      </p:pic>
    </p:spTree>
    <p:extLst>
      <p:ext uri="{BB962C8B-B14F-4D97-AF65-F5344CB8AC3E}">
        <p14:creationId xmlns:p14="http://schemas.microsoft.com/office/powerpoint/2010/main" val="1356372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3DAD38-E82E-45B2-A5CC-0C42E048BB95}"/>
              </a:ext>
            </a:extLst>
          </p:cNvPr>
          <p:cNvSpPr>
            <a:spLocks noGrp="1"/>
          </p:cNvSpPr>
          <p:nvPr>
            <p:ph type="title"/>
          </p:nvPr>
        </p:nvSpPr>
        <p:spPr/>
        <p:txBody>
          <a:bodyPr/>
          <a:lstStyle/>
          <a:p>
            <a:pPr algn="ctr"/>
            <a:r>
              <a:rPr lang="tr-TR" dirty="0" err="1"/>
              <a:t>Carbanak</a:t>
            </a:r>
            <a:endParaRPr lang="tr-TR" dirty="0"/>
          </a:p>
        </p:txBody>
      </p:sp>
      <p:sp>
        <p:nvSpPr>
          <p:cNvPr id="5" name="İçerik Yer Tutucusu 4">
            <a:extLst>
              <a:ext uri="{FF2B5EF4-FFF2-40B4-BE49-F238E27FC236}">
                <a16:creationId xmlns:a16="http://schemas.microsoft.com/office/drawing/2014/main" id="{6D59422C-4267-4EA6-8C55-A24AE39FCEA8}"/>
              </a:ext>
            </a:extLst>
          </p:cNvPr>
          <p:cNvSpPr>
            <a:spLocks noGrp="1"/>
          </p:cNvSpPr>
          <p:nvPr>
            <p:ph sz="half" idx="1"/>
          </p:nvPr>
        </p:nvSpPr>
        <p:spPr/>
        <p:txBody>
          <a:bodyPr>
            <a:normAutofit fontScale="92500" lnSpcReduction="20000"/>
          </a:bodyPr>
          <a:lstStyle/>
          <a:p>
            <a:r>
              <a:rPr lang="en-US" b="1" dirty="0" err="1"/>
              <a:t>Carbanak</a:t>
            </a:r>
            <a:r>
              <a:rPr lang="en-US" dirty="0"/>
              <a:t> is an APT-style campaign targeting (but not limited to) financial institutions that was claimed to have been discovered in 2014 by the Russian/UK Cyber Crime company </a:t>
            </a:r>
            <a:r>
              <a:rPr lang="en-US" dirty="0">
                <a:highlight>
                  <a:srgbClr val="FFFF00"/>
                </a:highlight>
              </a:rPr>
              <a:t>Kaspersky Lab</a:t>
            </a:r>
            <a:r>
              <a:rPr lang="en-US" dirty="0"/>
              <a:t> who said that it had been used to steal money from </a:t>
            </a:r>
            <a:r>
              <a:rPr lang="en-US" dirty="0">
                <a:highlight>
                  <a:srgbClr val="FF0000"/>
                </a:highlight>
              </a:rPr>
              <a:t>banks</a:t>
            </a:r>
            <a:r>
              <a:rPr lang="en-US" dirty="0"/>
              <a:t>.</a:t>
            </a:r>
            <a:r>
              <a:rPr lang="tr-TR" baseline="30000" dirty="0"/>
              <a:t> </a:t>
            </a:r>
            <a:r>
              <a:rPr lang="en-US" dirty="0"/>
              <a:t>The Microsoft Windows malware was said to have been introduced to its targets via phishing emails. The hacker group was said to have stolen over 900 million dollars, not only from the banks but from more than a thousand private customers.</a:t>
            </a:r>
          </a:p>
          <a:p>
            <a:endParaRPr lang="tr-TR" dirty="0"/>
          </a:p>
        </p:txBody>
      </p:sp>
      <p:pic>
        <p:nvPicPr>
          <p:cNvPr id="8" name="İçerik Yer Tutucusu 7" descr="metin, harita içeren bir resim&#10;&#10;Açıklama otomatik olarak oluşturuldu">
            <a:extLst>
              <a:ext uri="{FF2B5EF4-FFF2-40B4-BE49-F238E27FC236}">
                <a16:creationId xmlns:a16="http://schemas.microsoft.com/office/drawing/2014/main" id="{FDB5498E-5987-4991-AD33-32933E7BE46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65240" y="2541025"/>
            <a:ext cx="5181600" cy="2920538"/>
          </a:xfrm>
        </p:spPr>
      </p:pic>
    </p:spTree>
    <p:extLst>
      <p:ext uri="{BB962C8B-B14F-4D97-AF65-F5344CB8AC3E}">
        <p14:creationId xmlns:p14="http://schemas.microsoft.com/office/powerpoint/2010/main" val="9403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E07DEC-0377-4575-8BFE-491A6EACEC15}"/>
              </a:ext>
            </a:extLst>
          </p:cNvPr>
          <p:cNvSpPr>
            <a:spLocks noGrp="1"/>
          </p:cNvSpPr>
          <p:nvPr>
            <p:ph type="title"/>
          </p:nvPr>
        </p:nvSpPr>
        <p:spPr/>
        <p:txBody>
          <a:bodyPr/>
          <a:lstStyle/>
          <a:p>
            <a:pPr algn="ctr"/>
            <a:endParaRPr lang="tr-TR" dirty="0"/>
          </a:p>
        </p:txBody>
      </p:sp>
      <p:sp>
        <p:nvSpPr>
          <p:cNvPr id="5" name="İçerik Yer Tutucusu 4">
            <a:extLst>
              <a:ext uri="{FF2B5EF4-FFF2-40B4-BE49-F238E27FC236}">
                <a16:creationId xmlns:a16="http://schemas.microsoft.com/office/drawing/2014/main" id="{B1BA33AF-19F7-43CA-AE14-9B9634C22958}"/>
              </a:ext>
            </a:extLst>
          </p:cNvPr>
          <p:cNvSpPr>
            <a:spLocks noGrp="1"/>
          </p:cNvSpPr>
          <p:nvPr>
            <p:ph idx="1"/>
          </p:nvPr>
        </p:nvSpPr>
        <p:spPr/>
        <p:txBody>
          <a:bodyPr/>
          <a:lstStyle/>
          <a:p>
            <a:pPr marL="0" indent="0">
              <a:buNone/>
            </a:pPr>
            <a:br>
              <a:rPr lang="en-US" dirty="0"/>
            </a:br>
            <a:endParaRPr lang="tr-TR" dirty="0"/>
          </a:p>
        </p:txBody>
      </p:sp>
      <p:pic>
        <p:nvPicPr>
          <p:cNvPr id="7" name="Resim 6" descr="metin içeren bir resim&#10;&#10;Açıklama otomatik olarak oluşturuldu">
            <a:extLst>
              <a:ext uri="{FF2B5EF4-FFF2-40B4-BE49-F238E27FC236}">
                <a16:creationId xmlns:a16="http://schemas.microsoft.com/office/drawing/2014/main" id="{792EA55B-DE95-4738-9921-E68EC7194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0788" y="681037"/>
            <a:ext cx="8750423" cy="5469014"/>
          </a:xfrm>
          <a:prstGeom prst="rect">
            <a:avLst/>
          </a:prstGeom>
        </p:spPr>
      </p:pic>
    </p:spTree>
    <p:extLst>
      <p:ext uri="{BB962C8B-B14F-4D97-AF65-F5344CB8AC3E}">
        <p14:creationId xmlns:p14="http://schemas.microsoft.com/office/powerpoint/2010/main" val="3591851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7C9A1F5-8399-4667-8B6C-78644E47EEA5}"/>
              </a:ext>
            </a:extLst>
          </p:cNvPr>
          <p:cNvSpPr>
            <a:spLocks noGrp="1"/>
          </p:cNvSpPr>
          <p:nvPr>
            <p:ph type="title"/>
          </p:nvPr>
        </p:nvSpPr>
        <p:spPr/>
        <p:txBody>
          <a:bodyPr/>
          <a:lstStyle/>
          <a:p>
            <a:pPr algn="ctr"/>
            <a:endParaRPr lang="tr-TR" dirty="0"/>
          </a:p>
        </p:txBody>
      </p:sp>
      <p:pic>
        <p:nvPicPr>
          <p:cNvPr id="5" name="İçerik Yer Tutucusu 4" descr="metin, ekran görüntüsü içeren bir resim&#10;&#10;Açıklama otomatik olarak oluşturuldu">
            <a:extLst>
              <a:ext uri="{FF2B5EF4-FFF2-40B4-BE49-F238E27FC236}">
                <a16:creationId xmlns:a16="http://schemas.microsoft.com/office/drawing/2014/main" id="{542F1615-C370-4AAF-8A45-E80B79089B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0802" y="746596"/>
            <a:ext cx="8670396" cy="5364808"/>
          </a:xfrm>
        </p:spPr>
      </p:pic>
    </p:spTree>
    <p:extLst>
      <p:ext uri="{BB962C8B-B14F-4D97-AF65-F5344CB8AC3E}">
        <p14:creationId xmlns:p14="http://schemas.microsoft.com/office/powerpoint/2010/main" val="1104956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2241C7-9916-4994-AA56-8F21C594558B}"/>
              </a:ext>
            </a:extLst>
          </p:cNvPr>
          <p:cNvSpPr>
            <a:spLocks noGrp="1"/>
          </p:cNvSpPr>
          <p:nvPr>
            <p:ph type="title"/>
          </p:nvPr>
        </p:nvSpPr>
        <p:spPr/>
        <p:txBody>
          <a:bodyPr/>
          <a:lstStyle/>
          <a:p>
            <a:pPr algn="ctr"/>
            <a:r>
              <a:rPr lang="tr-TR" dirty="0" err="1"/>
              <a:t>Valid</a:t>
            </a:r>
            <a:r>
              <a:rPr lang="tr-TR" dirty="0"/>
              <a:t> </a:t>
            </a:r>
            <a:r>
              <a:rPr lang="tr-TR" dirty="0" err="1"/>
              <a:t>Accounts</a:t>
            </a:r>
            <a:r>
              <a:rPr lang="tr-TR" dirty="0"/>
              <a:t> </a:t>
            </a:r>
            <a:r>
              <a:rPr lang="tr-TR" dirty="0" err="1"/>
              <a:t>Mitigations</a:t>
            </a:r>
            <a:endParaRPr lang="tr-TR" dirty="0"/>
          </a:p>
        </p:txBody>
      </p:sp>
      <p:graphicFrame>
        <p:nvGraphicFramePr>
          <p:cNvPr id="4" name="İçerik Yer Tutucusu 3">
            <a:extLst>
              <a:ext uri="{FF2B5EF4-FFF2-40B4-BE49-F238E27FC236}">
                <a16:creationId xmlns:a16="http://schemas.microsoft.com/office/drawing/2014/main" id="{00A30508-4206-416B-B666-F43EEDBEA908}"/>
              </a:ext>
            </a:extLst>
          </p:cNvPr>
          <p:cNvGraphicFramePr>
            <a:graphicFrameLocks noGrp="1"/>
          </p:cNvGraphicFramePr>
          <p:nvPr>
            <p:ph idx="1"/>
            <p:extLst>
              <p:ext uri="{D42A27DB-BD31-4B8C-83A1-F6EECF244321}">
                <p14:modId xmlns:p14="http://schemas.microsoft.com/office/powerpoint/2010/main" val="2064183670"/>
              </p:ext>
            </p:extLst>
          </p:nvPr>
        </p:nvGraphicFramePr>
        <p:xfrm>
          <a:off x="4434894" y="1657412"/>
          <a:ext cx="2914449" cy="4687764"/>
        </p:xfrm>
        <a:graphic>
          <a:graphicData uri="http://schemas.openxmlformats.org/drawingml/2006/table">
            <a:tbl>
              <a:tblPr/>
              <a:tblGrid>
                <a:gridCol w="1253343">
                  <a:extLst>
                    <a:ext uri="{9D8B030D-6E8A-4147-A177-3AD203B41FA5}">
                      <a16:colId xmlns:a16="http://schemas.microsoft.com/office/drawing/2014/main" val="684247711"/>
                    </a:ext>
                  </a:extLst>
                </a:gridCol>
                <a:gridCol w="1661106">
                  <a:extLst>
                    <a:ext uri="{9D8B030D-6E8A-4147-A177-3AD203B41FA5}">
                      <a16:colId xmlns:a16="http://schemas.microsoft.com/office/drawing/2014/main" val="2748890898"/>
                    </a:ext>
                  </a:extLst>
                </a:gridCol>
              </a:tblGrid>
              <a:tr h="138138">
                <a:tc>
                  <a:txBody>
                    <a:bodyPr/>
                    <a:lstStyle/>
                    <a:p>
                      <a:pPr algn="l" fontAlgn="b"/>
                      <a:r>
                        <a:rPr lang="tr-TR" sz="700">
                          <a:effectLst/>
                        </a:rPr>
                        <a:t>Mitigation</a:t>
                      </a:r>
                    </a:p>
                  </a:txBody>
                  <a:tcPr marL="34534" marR="34534" marT="17267" marB="17267"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algn="l" fontAlgn="b"/>
                      <a:r>
                        <a:rPr lang="tr-TR" sz="700">
                          <a:effectLst/>
                        </a:rPr>
                        <a:t>Description</a:t>
                      </a:r>
                    </a:p>
                  </a:txBody>
                  <a:tcPr marL="34534" marR="34534" marT="17267" marB="17267"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813025995"/>
                  </a:ext>
                </a:extLst>
              </a:tr>
              <a:tr h="552551">
                <a:tc>
                  <a:txBody>
                    <a:bodyPr/>
                    <a:lstStyle/>
                    <a:p>
                      <a:pPr fontAlgn="t"/>
                      <a:r>
                        <a:rPr lang="tr-TR" sz="700" u="none" strike="noStrike" dirty="0">
                          <a:solidFill>
                            <a:srgbClr val="4F7CAC"/>
                          </a:solidFill>
                          <a:effectLst/>
                        </a:rPr>
                        <a:t>Application Developer </a:t>
                      </a:r>
                      <a:r>
                        <a:rPr lang="tr-TR" sz="700" u="none" strike="noStrike" dirty="0" err="1">
                          <a:solidFill>
                            <a:srgbClr val="4F7CAC"/>
                          </a:solidFill>
                          <a:effectLst/>
                        </a:rPr>
                        <a:t>Guidance</a:t>
                      </a:r>
                      <a:endParaRPr lang="tr-TR" sz="700" dirty="0">
                        <a:effectLst/>
                      </a:endParaRP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700">
                          <a:effectLst/>
                        </a:rPr>
                        <a:t>Ensure that applications do not store sensitive data or credentials insecurely. (e.g. plaintext credentials in code, published credentials in repositories, or credentials in public cloud storage).</a:t>
                      </a: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2295314857"/>
                  </a:ext>
                </a:extLst>
              </a:tr>
              <a:tr h="448948">
                <a:tc>
                  <a:txBody>
                    <a:bodyPr/>
                    <a:lstStyle/>
                    <a:p>
                      <a:pPr fontAlgn="t"/>
                      <a:r>
                        <a:rPr lang="tr-TR" sz="700" u="none" strike="noStrike" dirty="0" err="1">
                          <a:solidFill>
                            <a:srgbClr val="4F7CAC"/>
                          </a:solidFill>
                          <a:effectLst/>
                        </a:rPr>
                        <a:t>Audit</a:t>
                      </a:r>
                      <a:endParaRPr lang="tr-TR" sz="700" dirty="0">
                        <a:effectLst/>
                      </a:endParaRP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700">
                          <a:effectLst/>
                        </a:rPr>
                        <a:t>Routinely audit source code, application configuration files, open repositories, and public cloud storage for insecure use and storage of credentials.</a:t>
                      </a: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595527368"/>
                  </a:ext>
                </a:extLst>
              </a:tr>
              <a:tr h="863361">
                <a:tc>
                  <a:txBody>
                    <a:bodyPr/>
                    <a:lstStyle/>
                    <a:p>
                      <a:pPr fontAlgn="t"/>
                      <a:r>
                        <a:rPr lang="tr-TR" sz="700" u="none" strike="noStrike" dirty="0" err="1">
                          <a:solidFill>
                            <a:srgbClr val="4F7CAC"/>
                          </a:solidFill>
                          <a:effectLst/>
                        </a:rPr>
                        <a:t>Filter</a:t>
                      </a:r>
                      <a:r>
                        <a:rPr lang="tr-TR" sz="700" u="none" strike="noStrike" dirty="0">
                          <a:solidFill>
                            <a:srgbClr val="4F7CAC"/>
                          </a:solidFill>
                          <a:effectLst/>
                        </a:rPr>
                        <a:t> Network </a:t>
                      </a:r>
                      <a:r>
                        <a:rPr lang="tr-TR" sz="700" u="none" strike="noStrike" dirty="0" err="1">
                          <a:solidFill>
                            <a:srgbClr val="4F7CAC"/>
                          </a:solidFill>
                          <a:effectLst/>
                        </a:rPr>
                        <a:t>Traffic</a:t>
                      </a:r>
                      <a:endParaRPr lang="tr-TR" sz="700" dirty="0">
                        <a:effectLst/>
                      </a:endParaRP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700">
                          <a:effectLst/>
                        </a:rPr>
                        <a:t>Cloud service providers support IP-based restrictions when accessing cloud resources. Consider using IP whitelisting on cloud-based systems along with user account management to ensure that data access is restricted not only to valid users but only from expected IP ranges to mitigate the use of stolen credentials to access data.</a:t>
                      </a: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1549508514"/>
                  </a:ext>
                </a:extLst>
              </a:tr>
              <a:tr h="863361">
                <a:tc>
                  <a:txBody>
                    <a:bodyPr/>
                    <a:lstStyle/>
                    <a:p>
                      <a:pPr fontAlgn="t"/>
                      <a:r>
                        <a:rPr lang="tr-TR" sz="700" u="none" strike="noStrike" dirty="0">
                          <a:solidFill>
                            <a:srgbClr val="4F7CAC"/>
                          </a:solidFill>
                          <a:effectLst/>
                        </a:rPr>
                        <a:t>Multi-</a:t>
                      </a:r>
                      <a:r>
                        <a:rPr lang="tr-TR" sz="700" u="none" strike="noStrike" dirty="0" err="1">
                          <a:solidFill>
                            <a:srgbClr val="4F7CAC"/>
                          </a:solidFill>
                          <a:effectLst/>
                        </a:rPr>
                        <a:t>factor</a:t>
                      </a:r>
                      <a:r>
                        <a:rPr lang="tr-TR" sz="700" u="none" strike="noStrike" dirty="0">
                          <a:solidFill>
                            <a:srgbClr val="4F7CAC"/>
                          </a:solidFill>
                          <a:effectLst/>
                        </a:rPr>
                        <a:t> </a:t>
                      </a:r>
                      <a:r>
                        <a:rPr lang="tr-TR" sz="700" u="none" strike="noStrike" dirty="0" err="1">
                          <a:solidFill>
                            <a:srgbClr val="4F7CAC"/>
                          </a:solidFill>
                          <a:effectLst/>
                        </a:rPr>
                        <a:t>Authentication</a:t>
                      </a:r>
                      <a:endParaRPr lang="tr-TR" sz="700" dirty="0">
                        <a:effectLst/>
                      </a:endParaRP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700">
                          <a:effectLst/>
                        </a:rPr>
                        <a:t>Integrating multi-factor authentication (MFA) as part of organizational policy can greatly reduce the risk of an adversary gaining control of valid credentials that may be used for additional tactics such as initial access, lateral movement, and collecting information. MFA can also be used to restrict access to cloud resources and APIs.</a:t>
                      </a: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857723191"/>
                  </a:ext>
                </a:extLst>
              </a:tr>
              <a:tr h="1484980">
                <a:tc>
                  <a:txBody>
                    <a:bodyPr/>
                    <a:lstStyle/>
                    <a:p>
                      <a:pPr fontAlgn="t"/>
                      <a:r>
                        <a:rPr lang="tr-TR" sz="700" u="none" strike="noStrike" dirty="0" err="1">
                          <a:solidFill>
                            <a:srgbClr val="4F7CAC"/>
                          </a:solidFill>
                          <a:effectLst/>
                        </a:rPr>
                        <a:t>Password</a:t>
                      </a:r>
                      <a:r>
                        <a:rPr lang="tr-TR" sz="700" u="none" strike="noStrike" dirty="0">
                          <a:solidFill>
                            <a:srgbClr val="4F7CAC"/>
                          </a:solidFill>
                          <a:effectLst/>
                        </a:rPr>
                        <a:t> </a:t>
                      </a:r>
                      <a:r>
                        <a:rPr lang="tr-TR" sz="700" u="none" strike="noStrike" dirty="0" err="1">
                          <a:solidFill>
                            <a:srgbClr val="4F7CAC"/>
                          </a:solidFill>
                          <a:effectLst/>
                        </a:rPr>
                        <a:t>Policies</a:t>
                      </a:r>
                      <a:endParaRPr lang="tr-TR" sz="700" dirty="0">
                        <a:effectLst/>
                      </a:endParaRP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tc>
                  <a:txBody>
                    <a:bodyPr/>
                    <a:lstStyle/>
                    <a:p>
                      <a:pPr fontAlgn="t"/>
                      <a:r>
                        <a:rPr lang="en-US" sz="700" dirty="0">
                          <a:effectLst/>
                        </a:rPr>
                        <a:t>Applications and appliances that utilize default username and password should be changed immediately after the installation, and before deployment to a production environment. When possible, applications that use SSH keys should be updated periodically and properly secured. Ensure that local administrator accounts have complex, unique passwords across all systems on the network.</a:t>
                      </a:r>
                    </a:p>
                    <a:p>
                      <a:pPr fontAlgn="t"/>
                      <a:r>
                        <a:rPr lang="en-US" sz="700" dirty="0">
                          <a:effectLst/>
                        </a:rPr>
                        <a:t>In cloud environments, consider rotating access keys within a certain number of days for reducing the effectiveness of stolen credentials.</a:t>
                      </a:r>
                    </a:p>
                  </a:txBody>
                  <a:tcPr marL="34534" marR="34534" marT="17267" marB="17267">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2F2F2"/>
                    </a:solidFill>
                  </a:tcPr>
                </a:tc>
                <a:extLst>
                  <a:ext uri="{0D108BD9-81ED-4DB2-BD59-A6C34878D82A}">
                    <a16:rowId xmlns:a16="http://schemas.microsoft.com/office/drawing/2014/main" val="3348872435"/>
                  </a:ext>
                </a:extLst>
              </a:tr>
            </a:tbl>
          </a:graphicData>
        </a:graphic>
      </p:graphicFrame>
    </p:spTree>
    <p:extLst>
      <p:ext uri="{BB962C8B-B14F-4D97-AF65-F5344CB8AC3E}">
        <p14:creationId xmlns:p14="http://schemas.microsoft.com/office/powerpoint/2010/main" val="620373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F2A1D97-9696-425D-9AEB-54A063ABA056}"/>
              </a:ext>
            </a:extLst>
          </p:cNvPr>
          <p:cNvSpPr>
            <a:spLocks noGrp="1"/>
          </p:cNvSpPr>
          <p:nvPr>
            <p:ph type="title"/>
          </p:nvPr>
        </p:nvSpPr>
        <p:spPr>
          <a:xfrm>
            <a:off x="686834" y="591344"/>
            <a:ext cx="3200400" cy="5585619"/>
          </a:xfrm>
        </p:spPr>
        <p:txBody>
          <a:bodyPr>
            <a:normAutofit/>
          </a:bodyPr>
          <a:lstStyle/>
          <a:p>
            <a:r>
              <a:rPr lang="tr-TR">
                <a:solidFill>
                  <a:srgbClr val="FFFFFF"/>
                </a:solidFill>
              </a:rPr>
              <a:t>Valid Accounts Detection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C19B6E9C-E4FD-4DCC-BCD1-82630158D58C}"/>
              </a:ext>
            </a:extLst>
          </p:cNvPr>
          <p:cNvSpPr>
            <a:spLocks noGrp="1"/>
          </p:cNvSpPr>
          <p:nvPr>
            <p:ph idx="1"/>
          </p:nvPr>
        </p:nvSpPr>
        <p:spPr>
          <a:xfrm>
            <a:off x="4447308" y="591344"/>
            <a:ext cx="6906491" cy="5585619"/>
          </a:xfrm>
        </p:spPr>
        <p:txBody>
          <a:bodyPr anchor="ctr">
            <a:normAutofit/>
          </a:bodyPr>
          <a:lstStyle/>
          <a:p>
            <a:r>
              <a:rPr lang="en-US" sz="1800" dirty="0">
                <a:highlight>
                  <a:srgbClr val="FFFF00"/>
                </a:highlight>
              </a:rPr>
              <a:t>Configure robust, consistent account activity audit policies </a:t>
            </a:r>
            <a:r>
              <a:rPr lang="en-US" sz="1800" dirty="0"/>
              <a:t>across the enterprise and with externally accessible services. </a:t>
            </a:r>
            <a:r>
              <a:rPr lang="en-US" sz="1800" dirty="0">
                <a:highlight>
                  <a:srgbClr val="FFFF00"/>
                </a:highlight>
              </a:rPr>
              <a:t>Look for suspicious account behavior across systems that share accounts, either user, admin, or service accounts</a:t>
            </a:r>
            <a:r>
              <a:rPr lang="en-US" sz="1800" dirty="0"/>
              <a:t>. Examples: one account logged into multiple systems simultaneously; multiple accounts logged into the same machine simultaneously; accounts logged in at odd times or outside of business hours. Activity may be from interactive login sessions or process ownership from accounts being used to execute binaries on a remote system as a particular account. Correlate other security systems with login information (e.g., a user has an active login session but has not entered the building or does not have VPN access).</a:t>
            </a:r>
          </a:p>
          <a:p>
            <a:r>
              <a:rPr lang="en-US" sz="1800" dirty="0"/>
              <a:t>Perform regular audits of domain and local system accounts to detect accounts that may have been created by an adversary for persistence. Checks on these accounts could also include whether default accounts such as Guest have been activated. These audits should also include checks on any appliances and applications for default credentials or SSH keys, and if any are discovered, they should be updated immediately.</a:t>
            </a:r>
            <a:endParaRPr lang="tr-TR" sz="1800" dirty="0"/>
          </a:p>
        </p:txBody>
      </p:sp>
    </p:spTree>
    <p:extLst>
      <p:ext uri="{BB962C8B-B14F-4D97-AF65-F5344CB8AC3E}">
        <p14:creationId xmlns:p14="http://schemas.microsoft.com/office/powerpoint/2010/main" val="2124828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772DA8-FF61-42C1-8E2F-09CC86A731DD}"/>
              </a:ext>
            </a:extLst>
          </p:cNvPr>
          <p:cNvSpPr>
            <a:spLocks noGrp="1"/>
          </p:cNvSpPr>
          <p:nvPr>
            <p:ph type="title"/>
          </p:nvPr>
        </p:nvSpPr>
        <p:spPr/>
        <p:txBody>
          <a:bodyPr/>
          <a:lstStyle/>
          <a:p>
            <a:r>
              <a:rPr lang="tr-TR" dirty="0" err="1"/>
              <a:t>Sources</a:t>
            </a:r>
            <a:r>
              <a:rPr lang="tr-TR" dirty="0"/>
              <a:t> </a:t>
            </a:r>
          </a:p>
        </p:txBody>
      </p:sp>
      <p:sp>
        <p:nvSpPr>
          <p:cNvPr id="3" name="İçerik Yer Tutucusu 2">
            <a:extLst>
              <a:ext uri="{FF2B5EF4-FFF2-40B4-BE49-F238E27FC236}">
                <a16:creationId xmlns:a16="http://schemas.microsoft.com/office/drawing/2014/main" id="{CD4B7EC9-6D3A-435C-BFDA-8144CCF1AFA5}"/>
              </a:ext>
            </a:extLst>
          </p:cNvPr>
          <p:cNvSpPr>
            <a:spLocks noGrp="1"/>
          </p:cNvSpPr>
          <p:nvPr>
            <p:ph idx="1"/>
          </p:nvPr>
        </p:nvSpPr>
        <p:spPr/>
        <p:txBody>
          <a:bodyPr/>
          <a:lstStyle/>
          <a:p>
            <a:r>
              <a:rPr lang="tr-TR" dirty="0">
                <a:hlinkClick r:id="rId2"/>
              </a:rPr>
              <a:t>https://www.recordedfuture.com/chinese-mss-behind-apt3/</a:t>
            </a:r>
            <a:endParaRPr lang="tr-TR" dirty="0"/>
          </a:p>
          <a:p>
            <a:r>
              <a:rPr lang="tr-TR" dirty="0">
                <a:hlinkClick r:id="rId3"/>
              </a:rPr>
              <a:t>https://attack.mitre.org/</a:t>
            </a:r>
            <a:endParaRPr lang="tr-TR" dirty="0"/>
          </a:p>
          <a:p>
            <a:r>
              <a:rPr lang="tr-TR" dirty="0" err="1"/>
              <a:t>Wikipedia</a:t>
            </a:r>
            <a:endParaRPr lang="tr-TR" dirty="0"/>
          </a:p>
          <a:p>
            <a:r>
              <a:rPr lang="tr-TR" dirty="0">
                <a:hlinkClick r:id="rId4"/>
              </a:rPr>
              <a:t>https://malpedia.caad.fkie.fraunhofer.de/</a:t>
            </a:r>
            <a:endParaRPr lang="tr-TR" dirty="0"/>
          </a:p>
          <a:p>
            <a:endParaRPr lang="tr-TR" dirty="0"/>
          </a:p>
        </p:txBody>
      </p:sp>
    </p:spTree>
    <p:extLst>
      <p:ext uri="{BB962C8B-B14F-4D97-AF65-F5344CB8AC3E}">
        <p14:creationId xmlns:p14="http://schemas.microsoft.com/office/powerpoint/2010/main" val="3312682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B3CCAAB-CABE-4A57-97E0-AF434D6282F1}"/>
              </a:ext>
            </a:extLst>
          </p:cNvPr>
          <p:cNvSpPr>
            <a:spLocks noGrp="1"/>
          </p:cNvSpPr>
          <p:nvPr>
            <p:ph type="title"/>
          </p:nvPr>
        </p:nvSpPr>
        <p:spPr/>
        <p:txBody>
          <a:bodyPr/>
          <a:lstStyle/>
          <a:p>
            <a:endParaRPr lang="tr-TR"/>
          </a:p>
        </p:txBody>
      </p:sp>
      <p:pic>
        <p:nvPicPr>
          <p:cNvPr id="5" name="İçerik Yer Tutucusu 4" descr="ekran görüntüsü içeren bir resim&#10;&#10;Açıklama otomatik olarak oluşturuldu">
            <a:extLst>
              <a:ext uri="{FF2B5EF4-FFF2-40B4-BE49-F238E27FC236}">
                <a16:creationId xmlns:a16="http://schemas.microsoft.com/office/drawing/2014/main" id="{5F67833C-7834-43D7-8ECE-9EF2A74052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56462" y="526667"/>
            <a:ext cx="2679075" cy="5804665"/>
          </a:xfrm>
        </p:spPr>
      </p:pic>
    </p:spTree>
    <p:extLst>
      <p:ext uri="{BB962C8B-B14F-4D97-AF65-F5344CB8AC3E}">
        <p14:creationId xmlns:p14="http://schemas.microsoft.com/office/powerpoint/2010/main" val="382068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Başlık 1">
            <a:extLst>
              <a:ext uri="{FF2B5EF4-FFF2-40B4-BE49-F238E27FC236}">
                <a16:creationId xmlns:a16="http://schemas.microsoft.com/office/drawing/2014/main" id="{C73083FC-A5EF-4ECB-A104-847008679BD3}"/>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Thank you for listening !</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38824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1576</Words>
  <Application>Microsoft Office PowerPoint</Application>
  <PresentationFormat>Geniş ekran</PresentationFormat>
  <Paragraphs>172</Paragraphs>
  <Slides>34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34</vt:i4>
      </vt:variant>
    </vt:vector>
  </HeadingPairs>
  <TitlesOfParts>
    <vt:vector size="38" baseType="lpstr">
      <vt:lpstr>Arial</vt:lpstr>
      <vt:lpstr>Calibri</vt:lpstr>
      <vt:lpstr>Calibri Light</vt:lpstr>
      <vt:lpstr>Office Teması</vt:lpstr>
      <vt:lpstr>Adversary Tactics and Techniques (Persistence)</vt:lpstr>
      <vt:lpstr>Persistence</vt:lpstr>
      <vt:lpstr>Persistence Techniques</vt:lpstr>
      <vt:lpstr>Account Manipulation </vt:lpstr>
      <vt:lpstr>Account Manipulation</vt:lpstr>
      <vt:lpstr>Account Manipulation</vt:lpstr>
      <vt:lpstr>Account Manipulation Procedure Examples</vt:lpstr>
      <vt:lpstr>Dragonfly 2.0</vt:lpstr>
      <vt:lpstr>Dragonfly 2.0</vt:lpstr>
      <vt:lpstr>PowerPoint Sunusu</vt:lpstr>
      <vt:lpstr>APT3</vt:lpstr>
      <vt:lpstr>PowerPoint Sunusu</vt:lpstr>
      <vt:lpstr>PowerPoint Sunusu</vt:lpstr>
      <vt:lpstr>Account Manipulation Mitigation Examples</vt:lpstr>
      <vt:lpstr>Account Manipulation Detection</vt:lpstr>
      <vt:lpstr>Create Account</vt:lpstr>
      <vt:lpstr>Create Account Procedure Examples</vt:lpstr>
      <vt:lpstr>Create Account  Mitigations</vt:lpstr>
      <vt:lpstr>Multi Factor Authentication</vt:lpstr>
      <vt:lpstr>Create Account Detection </vt:lpstr>
      <vt:lpstr>Valid Accounts</vt:lpstr>
      <vt:lpstr>Valid Accounts</vt:lpstr>
      <vt:lpstr>Valid Accounts</vt:lpstr>
      <vt:lpstr>Valid Accounts Procedure Examples</vt:lpstr>
      <vt:lpstr>Cobalt Strike</vt:lpstr>
      <vt:lpstr>Cobalt Strike</vt:lpstr>
      <vt:lpstr>Carbanak</vt:lpstr>
      <vt:lpstr>PowerPoint Sunusu</vt:lpstr>
      <vt:lpstr>PowerPoint Sunusu</vt:lpstr>
      <vt:lpstr>Valid Accounts Mitigations</vt:lpstr>
      <vt:lpstr>Valid Accounts Detection</vt:lpstr>
      <vt:lpstr>Sources </vt:lpstr>
      <vt:lpstr>PowerPoint Sunusu</vt:lpstr>
      <vt:lpstr>Thank you for listening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Adversary Tactics and Techniques (Persistence)</dc:title>
  <dc:creator>Barış Karaer</dc:creator>
  <cp:lastModifiedBy>Barış Karaer</cp:lastModifiedBy>
  <cp:revision>20</cp:revision>
  <dcterms:created xsi:type="dcterms:W3CDTF">2020-05-15T10:01:31Z</dcterms:created>
  <dcterms:modified xsi:type="dcterms:W3CDTF">2020-05-16T11:07:58Z</dcterms:modified>
</cp:coreProperties>
</file>